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8519569df0436c" /><Relationship Type="http://schemas.openxmlformats.org/officeDocument/2006/relationships/extended-properties" Target="/docProps/app.xml" Id="Rac7a47a78ac945aa" /><Relationship Type="http://schemas.openxmlformats.org/officeDocument/2006/relationships/officeDocument" Target="/ppt/presentation.xml" Id="R14684aabbc6f41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65034dbab4d7a"/>
  </p:sldMasterIdLst>
  <p:notesMasterIdLst>
    <p:notesMasterId xmlns:r="http://schemas.openxmlformats.org/officeDocument/2006/relationships" r:id="R6f9489ee2ea24b52"/>
  </p:notesMasterIdLst>
  <p:sldIdLst>
    <p:sldId xmlns:r="http://schemas.openxmlformats.org/officeDocument/2006/relationships" id="256" r:id="Reaa988cc107141ea"/>
    <p:sldId xmlns:r="http://schemas.openxmlformats.org/officeDocument/2006/relationships" id="257" r:id="R71a195d32a0d4d4d"/>
    <p:sldId xmlns:r="http://schemas.openxmlformats.org/officeDocument/2006/relationships" id="258" r:id="R25282703c166435b"/>
    <p:sldId xmlns:r="http://schemas.openxmlformats.org/officeDocument/2006/relationships" id="259" r:id="Re3b52ec20a8d4109"/>
    <p:sldId xmlns:r="http://schemas.openxmlformats.org/officeDocument/2006/relationships" id="260" r:id="R685ba1e7e68b48cf"/>
    <p:sldId xmlns:r="http://schemas.openxmlformats.org/officeDocument/2006/relationships" id="261" r:id="Rde211e4c26624007"/>
    <p:sldId xmlns:r="http://schemas.openxmlformats.org/officeDocument/2006/relationships" id="262" r:id="R1e1253d911d04781"/>
    <p:sldId xmlns:r="http://schemas.openxmlformats.org/officeDocument/2006/relationships" id="263" r:id="Red31a5e9fef34951"/>
    <p:sldId xmlns:r="http://schemas.openxmlformats.org/officeDocument/2006/relationships" id="264" r:id="R83a196f782614ac9"/>
    <p:sldId xmlns:r="http://schemas.openxmlformats.org/officeDocument/2006/relationships" id="265" r:id="R889440fcdfad40a8"/>
    <p:sldId xmlns:r="http://schemas.openxmlformats.org/officeDocument/2006/relationships" id="266" r:id="R9296c8681e8e4e47"/>
    <p:sldId xmlns:r="http://schemas.openxmlformats.org/officeDocument/2006/relationships" id="267" r:id="R078e002384ed408f"/>
    <p:sldId xmlns:r="http://schemas.openxmlformats.org/officeDocument/2006/relationships" id="268" r:id="Rbd3dbca5b05043df"/>
    <p:sldId xmlns:r="http://schemas.openxmlformats.org/officeDocument/2006/relationships" id="269" r:id="Rfa20917895bd465a"/>
    <p:sldId xmlns:r="http://schemas.openxmlformats.org/officeDocument/2006/relationships" id="270" r:id="Re9e38cc3e3c4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76744137b343c4" /><Relationship Type="http://schemas.openxmlformats.org/officeDocument/2006/relationships/slideMaster" Target="/ppt/slideMasters/slideMaster1.xml" Id="R0cc65034dbab4d7a" /><Relationship Type="http://schemas.openxmlformats.org/officeDocument/2006/relationships/notesMaster" Target="/ppt/notesMasters/notesMaster1.xml" Id="R6f9489ee2ea24b52" /><Relationship Type="http://schemas.openxmlformats.org/officeDocument/2006/relationships/presProps" Target="/ppt/presProps.xml" Id="R474e4dada1584a54" /><Relationship Type="http://schemas.openxmlformats.org/officeDocument/2006/relationships/tableStyles" Target="/ppt/tableStyles.xml" Id="R723e9a10c14d44c9" /><Relationship Type="http://schemas.openxmlformats.org/officeDocument/2006/relationships/slide" Target="/ppt/slides/slide1.xml" Id="Reaa988cc107141ea" /><Relationship Type="http://schemas.openxmlformats.org/officeDocument/2006/relationships/slide" Target="/ppt/slides/slide2.xml" Id="R71a195d32a0d4d4d" /><Relationship Type="http://schemas.openxmlformats.org/officeDocument/2006/relationships/slide" Target="/ppt/slides/slide3.xml" Id="R25282703c166435b" /><Relationship Type="http://schemas.openxmlformats.org/officeDocument/2006/relationships/slide" Target="/ppt/slides/slide4.xml" Id="Re3b52ec20a8d4109" /><Relationship Type="http://schemas.openxmlformats.org/officeDocument/2006/relationships/slide" Target="/ppt/slides/slide5.xml" Id="R685ba1e7e68b48cf" /><Relationship Type="http://schemas.openxmlformats.org/officeDocument/2006/relationships/slide" Target="/ppt/slides/slide6.xml" Id="Rde211e4c26624007" /><Relationship Type="http://schemas.openxmlformats.org/officeDocument/2006/relationships/slide" Target="/ppt/slides/slide7.xml" Id="R1e1253d911d04781" /><Relationship Type="http://schemas.openxmlformats.org/officeDocument/2006/relationships/slide" Target="/ppt/slides/slide8.xml" Id="Red31a5e9fef34951" /><Relationship Type="http://schemas.openxmlformats.org/officeDocument/2006/relationships/slide" Target="/ppt/slides/slide9.xml" Id="R83a196f782614ac9" /><Relationship Type="http://schemas.openxmlformats.org/officeDocument/2006/relationships/slide" Target="/ppt/slides/slide10.xml" Id="R889440fcdfad40a8" /><Relationship Type="http://schemas.openxmlformats.org/officeDocument/2006/relationships/slide" Target="/ppt/slides/slide11.xml" Id="R9296c8681e8e4e47" /><Relationship Type="http://schemas.openxmlformats.org/officeDocument/2006/relationships/slide" Target="/ppt/slides/slide12.xml" Id="R078e002384ed408f" /><Relationship Type="http://schemas.openxmlformats.org/officeDocument/2006/relationships/slide" Target="/ppt/slides/slide13.xml" Id="Rbd3dbca5b05043df" /><Relationship Type="http://schemas.openxmlformats.org/officeDocument/2006/relationships/slide" Target="/ppt/slides/slide14.xml" Id="Rfa20917895bd465a" /><Relationship Type="http://schemas.openxmlformats.org/officeDocument/2006/relationships/slide" Target="/ppt/slides/slide15.xml" Id="Re9e38cc3e3c4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eea11bf70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85b95cfc624510" /><Relationship Type="http://schemas.openxmlformats.org/officeDocument/2006/relationships/notesMaster" Target="/ppt/notesMasters/notesMaster1.xml" Id="R10caf65584034b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34beaacf84f07" /><Relationship Type="http://schemas.openxmlformats.org/officeDocument/2006/relationships/notesMaster" Target="/ppt/notesMasters/notesMaster1.xml" Id="Rbe45dafbc95c48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95a5e53a234e96" /><Relationship Type="http://schemas.openxmlformats.org/officeDocument/2006/relationships/notesMaster" Target="/ppt/notesMasters/notesMaster1.xml" Id="R557af48fe8a5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fd46d07c1a40d8" /><Relationship Type="http://schemas.openxmlformats.org/officeDocument/2006/relationships/notesMaster" Target="/ppt/notesMasters/notesMaster1.xml" Id="R19639ad1e71c4e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a50fad88246cf" /><Relationship Type="http://schemas.openxmlformats.org/officeDocument/2006/relationships/notesMaster" Target="/ppt/notesMasters/notesMaster1.xml" Id="R080071a19efd40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cf1998c674c1f" /><Relationship Type="http://schemas.openxmlformats.org/officeDocument/2006/relationships/notesMaster" Target="/ppt/notesMasters/notesMaster1.xml" Id="Rb90367d5fecf47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b67952f5e94d70" /><Relationship Type="http://schemas.openxmlformats.org/officeDocument/2006/relationships/notesMaster" Target="/ppt/notesMasters/notesMaster1.xml" Id="R98d13b8b6ba4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914eb1877f4740" /><Relationship Type="http://schemas.openxmlformats.org/officeDocument/2006/relationships/notesMaster" Target="/ppt/notesMasters/notesMaster1.xml" Id="R2a821037211b4f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7d7d05936a4a12" /><Relationship Type="http://schemas.openxmlformats.org/officeDocument/2006/relationships/notesMaster" Target="/ppt/notesMasters/notesMaster1.xml" Id="R0683f3714dff46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0e47a5564f4b75" /><Relationship Type="http://schemas.openxmlformats.org/officeDocument/2006/relationships/notesMaster" Target="/ppt/notesMasters/notesMaster1.xml" Id="R66ffe4e0351447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8705d9364d45d1" /><Relationship Type="http://schemas.openxmlformats.org/officeDocument/2006/relationships/notesMaster" Target="/ppt/notesMasters/notesMaster1.xml" Id="R6f3890d9524343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ed91d4081d4029" /><Relationship Type="http://schemas.openxmlformats.org/officeDocument/2006/relationships/notesMaster" Target="/ppt/notesMasters/notesMaster1.xml" Id="R4dc356cdcf7b41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eac105daa540e0" /><Relationship Type="http://schemas.openxmlformats.org/officeDocument/2006/relationships/notesMaster" Target="/ppt/notesMasters/notesMaster1.xml" Id="R887c1763a63943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e62960b0ad4404" /><Relationship Type="http://schemas.openxmlformats.org/officeDocument/2006/relationships/notesMaster" Target="/ppt/notesMasters/notesMaster1.xml" Id="R7d96de35def74f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c286a655514967" /><Relationship Type="http://schemas.openxmlformats.org/officeDocument/2006/relationships/notesMaster" Target="/ppt/notesMasters/notesMaster1.xml" Id="Rba91db6fa708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0:00 a 0:40. Apresentar o objetivo: explicar como ULA, registradores e Unidade de Controle participam da execução de uma instrução. Pergunta mobilizadora: quando pedimos uma soma ao computador, qual parte calcula e onde fica o resultado? Não antecipar todas as respostas. Público previsto: graduação em início de formação. A aula usa um núcleo simplificado e não a planta física de um processador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0:40 a 1:30. Arquitetura descreve recursos e comportamentos que o software pode usar, como instruções e registradores arquiteturais. Organização descreve como os componentes implementam esses recursos. A microarquitetura é um nível dessa implementação interna. O mesmo conjunto de instruções pode ter diferentes implementações. Nesta aula vamos relacionar a instrução de soma com a organização funcional de um núcleo, sem aprofundar pipeline ou caches.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https://www.arm.com/architecture/cpu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Foto: Intel Core i5-8400, Rainer Knäpper, licença Art Libre. https://commons.wikimedia.org/wiki/File:Intel_core_i5-8400_top_IMGP6108_smial_wp.jpg . A imagem externa não permite ver ULA, registradores ou UC.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do leiaute interno anotado do ARM1: Ken Shirriff, reproduzida em MIT MAS.865 (2018). https://fab.cba.mit.edu/classes/865.18/computing/mpu/chip_labeled.png . Contexto original: http://www.righto.com/2015/12/reverse-engineering-arm1-ancestor-of.html . ULA e UC não são peças removíveis; são circuitos integrados ao chip. Usar a imagem brevemente, sem detalhar todos os rótulos em inglês.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 autoral: memória fora da CPU; UC, registradores e ULA dentro de um núcleo. Cache, E/S e detalhes dos barramentos foram omitidos. A linha memória-CPU representa de forma agregada transferências de instruções e dados. Fonte conceitual: MIT MAS.865, https://fab.cba.mit.edu/classes/865.18/computing/mpu/index.html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3:15 a 4:20. Definir ULA como circuito responsável por operações aritméticas e lógicas. Neste exemplo, ela soma operandos recebidos dos registradores. Exemplos aritméticos: adição e subtração. Exemplos lógicos: AND e OR sobre bits. Comparações podem usar resultados e sinais de estado produzidos por essas operações, dependendo da arquitetura. Não afirmar que multiplicação e divisão sempre pertencem à mesma ULA simples. A ULA calcula; registradores guardam os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4:20 a 5:25. Registradores são pequenas posições de armazenamento dentro do núcleo, com acesso rápido e funções definidas. R1 e R2 guardarão os operandos e R3 receberá o resultado. O exemplo já começa com os operandos carregados, sem mostrar as instruções que os trouxeram da memória. Não confundir registradores com RAM nem com cache. Quantidade, nomes e larguras variam conforme a arquitetura.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5:25 a 6:25. Apresentar PC como contador de programa, usado para indicar o endereço da próxima instrução a buscar no modelo. RI significa registrador de instrução, que representa a instrução em processamento no modelo. A notação e a existência de um único RI visível variam entre processadores; não apresentar como uma lista universal. A memória guarda a codificação binária, embora a aula escreva o mnemônico legível. O PC guarda um endereço, não o resultado da soma. Neste modelo as instruções ocupam uma posição e a busca sequencial atualiza o PC de 100 para 101.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  <a:p xmlns:a="http://schemas.openxmlformats.org/drawingml/2006/main">
            <a:r>
              <a:t>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6:25 a 7:25. A Unidade de Controle interpreta a instrução e gera sinais que coordenam leitura de registradores, escolha da operação da ULA e escrita do resultado. Ela não realiza a soma no lugar da ULA. No nosso modelo a UC identifica ADD, seleciona R1 e R2 como origens e R3 como destino. Os sinais podem ser implementados de formas diferentes, mas o papel funcional é o foco.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7:25 a 8:40. Apresentar uma sequência funcional de busca, decodificação, execução e gravação do resultado. Alguns modelos agrupam gravação na execução e algumas instruções não produzem resultado em registrador. A sequência mostrada é adequada à soma do exemplo. Não afirmar que cada etapa dura um pulso de clock ou que uma instrução equivale a um ciclo. CPUs modernas podem sobrepor etapas e executar várias instruções em paralelo. A busca usa o sistema de memória, com caches omitidos no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https://www.intel.com/content/www/us/en/education/k12/the-journey-inside/explore-the-curriculum/microprocessors.html</a:t>
            </a:r>
          </a:p>
          <a:p xmlns:a="http://schemas.openxmlformats.org/drawingml/2006/main">
            <a:r>
              <a:t>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8:40 a 9:40. Definir explicitamente a máquina didática. A instrução é um mnemônico em pseudolinguagem de montagem e não um comando de uma arquitetura real específica. Sintaxe escolhida: primeiro o destino, depois as duas origens. ADD R3, R1, R2 significa R3 recebe R1 mais R2. Estado inicial: R1=5, R2=3, R3=0 e PC=100. A posição 100 contém a instrução ADD e cada instrução ocupa uma posição nesse modelo. Os valores são decimais apenas para facilitar a leitura. Na memória e nos circuitos, as codificações são binárias. Perguntar qual deve ser o resultado, sem atribuir à UC o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9:40 a 11:00. Mostrar passo a passo: PC=100 fornece o endereço para a busca. A instrução da posição 100 é recebida no RI do modelo. O PC avança para 101 para a busca sequencial seguinte. A UC decodifica ADD e identifica origens R1 e R2 e destino R3. O exemplo não contém salto ou desvio. O avanço de uma posição é uma convenção didática, não a regra universal de CPUs endereçadas por byte. Ao final desse slide, R3 continua 0 porque ainda não demonstramos a gravação do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11:00 a 13:00. Retomar estado inicial sem alterar origens. Sob coordenação da UC, os valores 5 e 3 são lidos dos registradores e enviados à ULA, que calcula 8. A escrita habilitada pela UC registra 8 em R3. R1 e R2 permanecem iguais. O resultado não foi automaticamente gravado na RAM nem exibido na tela: isso exigiria outras operações. Verificar a divisão de responsabilidades: quem calcula? ULA. Onde o valor fica? R3. Quem coordena? UC. O PC já aponta 101 no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13:00 a 14:30. Aplicar uma transferência curta: executar ADD R3, R1, R2 com R1=9, R2=4 e R3=0. Perguntas: 1. Qual será o valor final de R3? 13. 2. Quem calcula e quem coordena a escrita? ULA calcula, UC coordena. 3. Onde o resultado permanece no modelo? R3. Pedir justificativa breve. Opcional apenas se houver tempo: PC=200 passará a 201 para busca sequencial no mesmo modelo. Não acrescentar um novo conceito no fechamento. Síntese: a CPU executa a instrução com cooperação dos componentes; ULA calcula, registradores mantêm valores e UC coordena. Encerrar em 14:30 e manter 30 segundos de margem.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consultadas em 22/10/2026. Foto https://commons.wikimedia.org/wiki/File:Intel_core_i5-8400_top_IMGP6108_smial_wp.jpg . Esquemas são modelos simplificados. Não afirmar que todas as instruções usam ULA ou que PC sempre incrementa em 1; esse incremento pertence ao modelo fictício do exemplo.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51d321f974e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8e73f6aa748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f7e41503046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6776c49184d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ab5e71add43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fad2f5dc743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694F0D-2B94-4FAA-AD3E-B5BB2FBF2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2D6118-FE2E-417C-848C-808261EDB3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BF8621-5FED-423F-98E6-34C253407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FB836F-D64F-409C-AE5F-481176A18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6B5CE1-1F88-4197-BD4E-E41CE6A19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A1732B-0564-478C-BCA3-A20CB3DEA7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13F36A-1C2F-4460-83C9-9350A0719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E8757B-EFD7-4A83-A87B-BB90E87A5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FFC52B-CFF3-40E2-8D4E-70D026D5C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272502-691A-4F46-9D16-02251C4EF0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dac0b0d204079" /><Relationship Type="http://schemas.openxmlformats.org/officeDocument/2006/relationships/slideLayout" Target="/ppt/slideLayouts/slideLayout1.xml" Id="R16d84ce9b32c422e" /><Relationship Type="http://schemas.openxmlformats.org/officeDocument/2006/relationships/slideLayout" Target="/ppt/slideLayouts/slideLayout2.xml" Id="Rab336bd8602e487a" /><Relationship Type="http://schemas.openxmlformats.org/officeDocument/2006/relationships/slideLayout" Target="/ppt/slideLayouts/slideLayout3.xml" Id="R2429ee1011484cd9" /><Relationship Type="http://schemas.openxmlformats.org/officeDocument/2006/relationships/slideLayout" Target="/ppt/slideLayouts/slideLayout4.xml" Id="Rb20d84b140ad48c8" /><Relationship Type="http://schemas.openxmlformats.org/officeDocument/2006/relationships/slideLayout" Target="/ppt/slideLayouts/slideLayout5.xml" Id="Re9e6809b50984798" /><Relationship Type="http://schemas.openxmlformats.org/officeDocument/2006/relationships/slideLayout" Target="/ppt/slideLayouts/slideLayout6.xml" Id="Rf3542986eca2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84ce9b32c422e"/>
    <p:sldLayoutId xmlns:r="http://schemas.openxmlformats.org/officeDocument/2006/relationships" id="2147483650" r:id="Rab336bd8602e487a"/>
    <p:sldLayoutId xmlns:r="http://schemas.openxmlformats.org/officeDocument/2006/relationships" id="2147483651" r:id="R2429ee1011484cd9"/>
    <p:sldLayoutId xmlns:r="http://schemas.openxmlformats.org/officeDocument/2006/relationships" id="2147483652" r:id="Rb20d84b140ad48c8"/>
    <p:sldLayoutId xmlns:r="http://schemas.openxmlformats.org/officeDocument/2006/relationships" id="2147483653" r:id="Re9e6809b50984798"/>
    <p:sldLayoutId xmlns:r="http://schemas.openxmlformats.org/officeDocument/2006/relationships" id="2147483654" r:id="Rf3542986eca2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4ca09df254a2b" /><Relationship Type="http://schemas.openxmlformats.org/officeDocument/2006/relationships/notesSlide" Target="/ppt/notesSlides/notesSlide1.xml" Id="Ra5f9b4de2ac3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3b077fb3b485f" /><Relationship Type="http://schemas.openxmlformats.org/officeDocument/2006/relationships/notesSlide" Target="/ppt/notesSlides/notesSlide2.xml" Id="R1df578d0f6d946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697b4a48f4667" /><Relationship Type="http://schemas.openxmlformats.org/officeDocument/2006/relationships/image" Target="/ppt/media/image.jpeg" Id="Raf0f043f898f4ece" /><Relationship Type="http://schemas.openxmlformats.org/officeDocument/2006/relationships/notesSlide" Target="/ppt/notesSlides/notesSlide3.xml" Id="Rbeaabc344a4e47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fec0c739547eb" /><Relationship Type="http://schemas.openxmlformats.org/officeDocument/2006/relationships/image" Target="/ppt/media/image.png" Id="R8b555ef2f01e4049" /><Relationship Type="http://schemas.openxmlformats.org/officeDocument/2006/relationships/notesSlide" Target="/ppt/notesSlides/notesSlide4.xml" Id="Rf6241e79c2334b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793e1a3534aff" /><Relationship Type="http://schemas.openxmlformats.org/officeDocument/2006/relationships/notesSlide" Target="/ppt/notesSlides/notesSlide5.xml" Id="R3b18eed9aedd4e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a6f0a1f0e4a9e" /><Relationship Type="http://schemas.openxmlformats.org/officeDocument/2006/relationships/notesSlide" Target="/ppt/notesSlides/notesSlide6.xml" Id="R6bc41739456a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d36344d8f4ef5" /><Relationship Type="http://schemas.openxmlformats.org/officeDocument/2006/relationships/notesSlide" Target="/ppt/notesSlides/notesSlide7.xml" Id="Rb1e69c1361744b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f49f9f53c4ea6" /><Relationship Type="http://schemas.openxmlformats.org/officeDocument/2006/relationships/notesSlide" Target="/ppt/notesSlides/notesSlide8.xml" Id="Reeb838501c6848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7e8b3a7bd4226" /><Relationship Type="http://schemas.openxmlformats.org/officeDocument/2006/relationships/notesSlide" Target="/ppt/notesSlides/notesSlide9.xml" Id="Reec15ec4653342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4e66463144dd1" /><Relationship Type="http://schemas.openxmlformats.org/officeDocument/2006/relationships/notesSlide" Target="/ppt/notesSlides/notesSlide10.xml" Id="R7a89d887ef134d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4199c808d4f9d" /><Relationship Type="http://schemas.openxmlformats.org/officeDocument/2006/relationships/notesSlide" Target="/ppt/notesSlides/notesSlide11.xml" Id="R8880914e612a4d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b8695b3974a62" /><Relationship Type="http://schemas.openxmlformats.org/officeDocument/2006/relationships/notesSlide" Target="/ppt/notesSlides/notesSlide12.xml" Id="R00095d3064424c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659d56a4a4cba" /><Relationship Type="http://schemas.openxmlformats.org/officeDocument/2006/relationships/notesSlide" Target="/ppt/notesSlides/notesSlide13.xml" Id="R1678dfdbe1f446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693e5820345e6" /><Relationship Type="http://schemas.openxmlformats.org/officeDocument/2006/relationships/notesSlide" Target="/ppt/notesSlides/notesSlide14.xml" Id="R416096f6ffa147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5334b1ad940b3" /><Relationship Type="http://schemas.openxmlformats.org/officeDocument/2006/relationships/notesSlide" Target="/ppt/notesSlides/notesSlide15.xml" Id="Rcec94ed6101a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4B4024F-A3F9-4630-806C-4ED47C4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 de Computadores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10C80-B2E5-4F53-B4C1-5BBD00D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a CPU executa</a:t>
            </a:r>
          </a:p>
          <a:p xmlns:a="http://schemas.openxmlformats.org/drawingml/2006/main"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uma instrução</a:t>
            </a:r>
          </a:p>
        </p:txBody>
      </p:sp>
      <p:sp>
        <p:nvSpPr>
          <p:cNvPr id="4" name="components">
            <a:extLst xmlns:a="http://schemas.openxmlformats.org/drawingml/2006/main">
              <a:ext uri="{FF2B5EF4-FFF2-40B4-BE49-F238E27FC236}">
                <a16:creationId xmlns:a16="http://schemas.microsoft.com/office/drawing/2014/main" id="{73ACCB0A-C20C-4AEB-84FB-CB990D9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ULA, registradores e Unidade de Controle</a:t>
            </a:r>
          </a:p>
        </p:txBody>
      </p:sp>
      <p:sp>
        <p:nvSpPr>
          <p:cNvPr id="5" name="objective">
            <a:extLst xmlns:a="http://schemas.openxmlformats.org/drawingml/2006/main">
              <a:ext uri="{FF2B5EF4-FFF2-40B4-BE49-F238E27FC236}">
                <a16:creationId xmlns:a16="http://schemas.microsoft.com/office/drawing/2014/main" id="{B8932FBD-A91F-48E1-9FD3-F8050C7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identificar a função de cada componente</a:t>
            </a:r>
          </a:p>
          <a:p xmlns:a="http://schemas.openxmlformats.org/drawingml/2006/main"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acompanhar uma soma dentro da CPU.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901F5997-43C6-4D1C-A33E-7DCA291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70D75-8523-453E-AA22-DF541B1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3564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9BBBAACF-651C-4902-B363-5BF94412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</a:t>
            </a:r>
          </a:p>
        </p:txBody>
      </p:sp>
      <p:sp>
        <p:nvSpPr>
          <p:cNvPr id="3" name="ARQUITETURA-label">
            <a:extLst xmlns:a="http://schemas.openxmlformats.org/drawingml/2006/main">
              <a:ext uri="{FF2B5EF4-FFF2-40B4-BE49-F238E27FC236}">
                <a16:creationId xmlns:a16="http://schemas.microsoft.com/office/drawing/2014/main" id="{AED4B36F-144C-474E-AC52-E3D1140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4" name="ARQUITETURA-desc">
            <a:extLst xmlns:a="http://schemas.openxmlformats.org/drawingml/2006/main">
              <a:ext uri="{FF2B5EF4-FFF2-40B4-BE49-F238E27FC236}">
                <a16:creationId xmlns:a16="http://schemas.microsoft.com/office/drawing/2014/main" id="{4A1D739D-35E1-4F5C-A996-1BC3080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o software pode usar</a:t>
            </a:r>
          </a:p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Instruções e registradores visíveis</a:t>
            </a:r>
          </a:p>
        </p:txBody>
      </p:sp>
      <p:sp>
        <p:nvSpPr>
          <p:cNvPr id="5" name="ORGANIZAÇÃO-label">
            <a:extLst xmlns:a="http://schemas.openxmlformats.org/drawingml/2006/main">
              <a:ext uri="{FF2B5EF4-FFF2-40B4-BE49-F238E27FC236}">
                <a16:creationId xmlns:a16="http://schemas.microsoft.com/office/drawing/2014/main" id="{46D81823-6684-46C2-92E6-49029B86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ORGANIZAÇÃO</a:t>
            </a:r>
          </a:p>
        </p:txBody>
      </p:sp>
      <p:sp>
        <p:nvSpPr>
          <p:cNvPr id="6" name="ORGANIZAÇÃO-desc">
            <a:extLst xmlns:a="http://schemas.openxmlformats.org/drawingml/2006/main">
              <a:ext uri="{FF2B5EF4-FFF2-40B4-BE49-F238E27FC236}">
                <a16:creationId xmlns:a16="http://schemas.microsoft.com/office/drawing/2014/main" id="{26CC0718-E687-445C-B548-CB0C0178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os componentes implementam</a:t>
            </a:r>
          </a:p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execução dessas instruções</a:t>
            </a:r>
          </a:p>
        </p:txBody>
      </p:sp>
      <p:sp>
        <p:nvSpPr>
          <p:cNvPr id="7" name="focus">
            <a:extLst xmlns:a="http://schemas.openxmlformats.org/drawingml/2006/main">
              <a:ext uri="{FF2B5EF4-FFF2-40B4-BE49-F238E27FC236}">
                <a16:creationId xmlns:a16="http://schemas.microsoft.com/office/drawing/2014/main" id="{9425CFDC-886F-42F2-8FD5-3EE8E59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Recorte da aula: o funcionamento de um núcleo simplificado.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A0836-98A0-4719-B3FE-17B6C521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63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2A3CD-B8CB-4F91-A670-EF614BF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CPU  Unidade Central de Processamento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66475-5088-4C99-841A-901B19BB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Executa instruções e coordena</a:t>
            </a:r>
          </a:p>
          <a:p xmlns:a="http://schemas.openxmlformats.org/drawingml/2006/main"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operações de processamento.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6BEA2-968D-4308-A424-0E11307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Um processador pode ter vários núcleos.</a:t>
            </a:r>
          </a:p>
          <a:p xmlns:a="http://schemas.openxmlformats.org/drawingml/2006/main"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Aqui, estudaremos um núcleo simplificado.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59A4-EDCD-4BA5-B477-06EA04430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f043f898f4ece"/>
          <a:stretch xmlns:a="http://schemas.openxmlformats.org/drawingml/2006/main"/>
        </p:blipFill>
        <p:spPr>
          <a:xfrm xmlns:a="http://schemas.openxmlformats.org/drawingml/2006/main">
            <a:off x="7687157" y="1571625"/>
            <a:ext cx="3389935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76C1E-2C54-451A-89CD-9366639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911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Encapsulamento de um processador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F600D-4B7C-4B8B-9B24-6AB90AD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circuitos internos ficam sob a cobertura metálica.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A0406-F59C-4E9D-9C8B-FBECABCD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353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FAF98-0EF6-405B-B88F-BA61B996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componentes dentro do chip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3DC79-95B3-416F-ADD1-DD3DEE353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55ef2f01e4049"/>
          <a:stretch xmlns:a="http://schemas.openxmlformats.org/drawingml/2006/main"/>
        </p:blipFill>
        <p:spPr>
          <a:xfrm xmlns:a="http://schemas.openxmlformats.org/drawingml/2006/main">
            <a:off x="764829" y="1428750"/>
            <a:ext cx="4566342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21CB6-733D-47C3-97E8-666BA583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Exemplo histórico  ARM1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48190-4514-4F0A-9A06-BFD2A183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</a:t>
            </a:r>
          </a:p>
          <a:p xmlns:a="http://schemas.openxmlformats.org/drawingml/2006/main"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950D4-C3DB-4C69-8E77-C0CE547B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Register file</a:t>
            </a:r>
          </a:p>
          <a:p xmlns:a="http://schemas.openxmlformats.org/drawingml/2006/main"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Banco de registradores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E123F-3E98-4CE3-9227-03E66164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ALU</a:t>
            </a:r>
          </a:p>
          <a:p xmlns:a="http://schemas.openxmlformats.org/drawingml/2006/main"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Unidade Lógico-Aritmética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2E1B-9215-493E-9E3A-9ECD6B4E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Imagem interna anotada; a disposição varia entre processadores.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5C9FF-C6E6-4BC8-A86F-2EA9A26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518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9ACC5-10A2-4B47-AB2E-0293007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Esquema da arquitetura  modelo simplificado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DD26-0122-43F3-BF9D-F1E67BF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F5F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MEMÓRIA PRINCIPAL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Instruções 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A3F91-5708-4119-BE47-4925FE6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47800"/>
            <a:ext cx="7715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5A60-8F26-42A8-982C-EC5282B9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CPU  um núcleo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B7D6A-9376-4BBB-B8F5-F6CD275C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FFE0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  <a:p xmlns:a="http://schemas.openxmlformats.org/drawingml/2006/main"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 e coordena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A8589-4D31-4ABF-B685-5FBA399A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3238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REGISTRADORES</a:t>
            </a:r>
          </a:p>
          <a:p xmlns:a="http://schemas.openxmlformats.org/drawingml/2006/main"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Operandos e 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49DD8-AAAC-40EC-8AC9-18045A60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48125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FFAB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 xmlns:a="http://schemas.openxmlformats.org/drawingml/2006/main"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Opera sobre os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3AF81-28A5-4585-A5CB-567D24F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685800" cy="25717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F5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97BF2-E990-4B6E-A9D0-D5FF92D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Busca e</a:t>
            </a:r>
          </a:p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transferências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4B819-37DD-4CBA-A4BE-139A4D1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704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A94EC-A82C-4622-92D0-5479406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209550" cy="714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9B318-02F1-4A6A-B4D5-682E836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209550" cy="714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50F39-A059-4F84-B367-5AF9F15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24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F6EFA-7840-4D4C-BD73-7A9CA86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768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Resultado da ULA retorna aos registradores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09C46-3C84-47D2-9037-E63CEE5D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Azul: caminho de dados   Amarelo: sinais de controle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2F47E-FEBB-47B9-923C-2C16ADBD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096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8AA60-CB48-42FA-A663-D9237798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ULA  Unidade Lógico Aritmética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986BF-AFFD-4267-8063-6A2A9F73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Recebe operandos e realiza a operação selecionada.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BFCE7-87BF-44F0-9450-86F10CCC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 =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60D08-B74C-42C7-B9CF-A9523DE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 =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6922A-544A-419C-B920-B527479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FFAB8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 xmlns:a="http://schemas.openxmlformats.org/drawingml/2006/main"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SOMA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96783-C62A-496B-9D3E-ED533DC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5FF5-2C37-4FCE-93F7-0101137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4560D-FFC5-444D-BE26-E799213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A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1F59C-E2FA-4030-A8DF-40501EC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 =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F516-490A-4FD0-BE47-1B161159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UC seleciona a operação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B01B-D7E8-4B0D-A352-CF384D5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Outras operações: subtração, AND, OR e comparações.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6D993-3D9D-4E70-8CC5-B801C49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1913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4D830-A529-4C15-9A70-EFCD3E34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Registradores  armazenamento no núcleo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8729C-CB48-4F0E-BCCE-6CE0DBF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Mantêm operandos, resultados e informações de controle.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17EE1-4521-443A-A5BC-1B37B39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</a:t>
            </a:r>
          </a:p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E09D3-F8B7-400D-B258-AE055E4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62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</a:t>
            </a:r>
          </a:p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B8C9D-F4C8-4271-B5CB-135C7281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</a:t>
            </a:r>
          </a:p>
          <a:p xmlns:a="http://schemas.openxmlformats.org/drawingml/2006/main"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611A2-C7E7-45CE-9822-AF1B170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3DD7-4DA9-4998-9CFD-3B85B2B1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61881-C652-498D-A01C-B4ED944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83FE5-3E6C-4D03-95FC-DA46367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Exemplo de soma: R3 recebe R1 + R2.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B8935-F641-4423-BA57-67CD7ECE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Representação didática de registradores, não módulos de memória RAM.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2FD30-E5E4-4F17-BB9A-C6C7F86E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8417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C1E30FA4-F20F-48E9-8038-CE419A3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Registradores de controle</a:t>
            </a:r>
          </a:p>
        </p:txBody>
      </p:sp>
      <p:sp>
        <p:nvSpPr>
          <p:cNvPr id="3" name="PC-label">
            <a:extLst xmlns:a="http://schemas.openxmlformats.org/drawingml/2006/main">
              <a:ext uri="{FF2B5EF4-FFF2-40B4-BE49-F238E27FC236}">
                <a16:creationId xmlns:a16="http://schemas.microsoft.com/office/drawing/2014/main" id="{6852AD16-BE60-4521-A873-65D496FA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PC</a:t>
            </a:r>
          </a:p>
        </p:txBody>
      </p:sp>
      <p:sp>
        <p:nvSpPr>
          <p:cNvPr id="4" name="PC-desc">
            <a:extLst xmlns:a="http://schemas.openxmlformats.org/drawingml/2006/main">
              <a:ext uri="{FF2B5EF4-FFF2-40B4-BE49-F238E27FC236}">
                <a16:creationId xmlns:a16="http://schemas.microsoft.com/office/drawing/2014/main" id="{006B9F50-0CF2-40A2-A402-3E7FB8C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Contador de programa</a:t>
            </a:r>
          </a:p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Endereço da próxima instrução a buscar</a:t>
            </a:r>
          </a:p>
        </p:txBody>
      </p:sp>
      <p:sp>
        <p:nvSpPr>
          <p:cNvPr id="5" name="RI-label">
            <a:extLst xmlns:a="http://schemas.openxmlformats.org/drawingml/2006/main">
              <a:ext uri="{FF2B5EF4-FFF2-40B4-BE49-F238E27FC236}">
                <a16:creationId xmlns:a16="http://schemas.microsoft.com/office/drawing/2014/main" id="{F418F54B-0C1E-4732-9281-D851E6C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RI</a:t>
            </a:r>
          </a:p>
        </p:txBody>
      </p:sp>
      <p:sp>
        <p:nvSpPr>
          <p:cNvPr id="6" name="RI-desc">
            <a:extLst xmlns:a="http://schemas.openxmlformats.org/drawingml/2006/main">
              <a:ext uri="{FF2B5EF4-FFF2-40B4-BE49-F238E27FC236}">
                <a16:creationId xmlns:a16="http://schemas.microsoft.com/office/drawing/2014/main" id="{A7742194-48BD-41C4-95B3-BAF0AB80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 de instrução</a:t>
            </a:r>
          </a:p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Instrução em processamento no modelo</a:t>
            </a:r>
          </a:p>
        </p:txBody>
      </p:sp>
      <p:sp>
        <p:nvSpPr>
          <p:cNvPr id="7" name="pc-example">
            <a:extLst xmlns:a="http://schemas.openxmlformats.org/drawingml/2006/main">
              <a:ext uri="{FF2B5EF4-FFF2-40B4-BE49-F238E27FC236}">
                <a16:creationId xmlns:a16="http://schemas.microsoft.com/office/drawing/2014/main" id="{89C8F27D-F97C-4360-B55A-713D220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Exemplo: PC = 100 indica um endereço de instrução.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133C-7406-439D-B623-6C1C4E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1529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FF3F-6A4D-4D66-92C3-5A9B822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Unidade de Controle  coordenação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C983-3E85-478B-83C5-8F3E960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Interpreta a instrução e gera sinais de controle.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C5FE1-B91F-49EF-A20B-454223FC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095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78C7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RI</a:t>
            </a:r>
          </a:p>
          <a:p xmlns:a="http://schemas.openxmlformats.org/drawingml/2006/main"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ADD R3, R1, R2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26AA2-3FDE-47B3-A1E6-F9898F6E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76625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ABB1A-039D-48C4-AC75-C549ABF7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19050">
            <a:solidFill>
              <a:srgbClr val="FFE0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</a:t>
            </a:r>
          </a:p>
          <a:p xmlns:a="http://schemas.openxmlformats.org/drawingml/2006/main"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5C01B-8F45-4E2D-8ECC-27E53B6E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801F-35E7-4D00-902D-7395D4D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571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Selecionar R1 e R2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Definir SOMA na 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Habilitar escrita em R3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B839-D416-4E03-BF09-4EB81503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 ULA calcula. A UC coordena quando e como as ações ocorrem.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C131-B746-4890-8EA8-B4422F3B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3447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00E8891B-A82E-4F5C-B2D7-A0D5A88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Ciclo de uma instrução</a:t>
            </a:r>
          </a:p>
        </p:txBody>
      </p:sp>
      <p:sp>
        <p:nvSpPr>
          <p:cNvPr id="3" name="1  BUSCA-label">
            <a:extLst xmlns:a="http://schemas.openxmlformats.org/drawingml/2006/main">
              <a:ext uri="{FF2B5EF4-FFF2-40B4-BE49-F238E27FC236}">
                <a16:creationId xmlns:a16="http://schemas.microsoft.com/office/drawing/2014/main" id="{806BD815-6DEA-47E8-90CC-4CE2045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1  BUSCA</a:t>
            </a:r>
          </a:p>
        </p:txBody>
      </p:sp>
      <p:sp>
        <p:nvSpPr>
          <p:cNvPr id="4" name="1  BUSCA-desc">
            <a:extLst xmlns:a="http://schemas.openxmlformats.org/drawingml/2006/main">
              <a:ext uri="{FF2B5EF4-FFF2-40B4-BE49-F238E27FC236}">
                <a16:creationId xmlns:a16="http://schemas.microsoft.com/office/drawing/2014/main" id="{D20F153D-0C78-4A66-BDDD-298C9D9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Obter a instrução no sistema de memória</a:t>
            </a:r>
          </a:p>
        </p:txBody>
      </p:sp>
      <p:sp>
        <p:nvSpPr>
          <p:cNvPr id="5" name="2  DECODIFICAÇÃO-label">
            <a:extLst xmlns:a="http://schemas.openxmlformats.org/drawingml/2006/main">
              <a:ext uri="{FF2B5EF4-FFF2-40B4-BE49-F238E27FC236}">
                <a16:creationId xmlns:a16="http://schemas.microsoft.com/office/drawing/2014/main" id="{C4CB60E6-3447-45E4-883D-0BAD2F0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2  DECODIFICAÇÃO</a:t>
            </a:r>
          </a:p>
        </p:txBody>
      </p:sp>
      <p:sp>
        <p:nvSpPr>
          <p:cNvPr id="6" name="2  DECODIFICAÇÃO-desc">
            <a:extLst xmlns:a="http://schemas.openxmlformats.org/drawingml/2006/main">
              <a:ext uri="{FF2B5EF4-FFF2-40B4-BE49-F238E27FC236}">
                <a16:creationId xmlns:a16="http://schemas.microsoft.com/office/drawing/2014/main" id="{EF141FF8-3312-4D00-9A0F-440C689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Identificar a operação e seus operandos</a:t>
            </a:r>
          </a:p>
        </p:txBody>
      </p:sp>
      <p:sp>
        <p:nvSpPr>
          <p:cNvPr id="7" name="3  EXECUÇÃO-label">
            <a:extLst xmlns:a="http://schemas.openxmlformats.org/drawingml/2006/main">
              <a:ext uri="{FF2B5EF4-FFF2-40B4-BE49-F238E27FC236}">
                <a16:creationId xmlns:a16="http://schemas.microsoft.com/office/drawing/2014/main" id="{EF9BCF93-C0E8-4A95-A1C2-8C1A2B8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3  EXECUÇÃO</a:t>
            </a:r>
          </a:p>
        </p:txBody>
      </p:sp>
      <p:sp>
        <p:nvSpPr>
          <p:cNvPr id="8" name="3  EXECUÇÃO-desc">
            <a:extLst xmlns:a="http://schemas.openxmlformats.org/drawingml/2006/main">
              <a:ext uri="{FF2B5EF4-FFF2-40B4-BE49-F238E27FC236}">
                <a16:creationId xmlns:a16="http://schemas.microsoft.com/office/drawing/2014/main" id="{4E2F2EE0-E008-44A1-AEB1-2EF961E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Realizar a operação na ULA</a:t>
            </a:r>
          </a:p>
        </p:txBody>
      </p:sp>
      <p:sp>
        <p:nvSpPr>
          <p:cNvPr id="9" name="4  GRAVAÇÃO-label">
            <a:extLst xmlns:a="http://schemas.openxmlformats.org/drawingml/2006/main">
              <a:ext uri="{FF2B5EF4-FFF2-40B4-BE49-F238E27FC236}">
                <a16:creationId xmlns:a16="http://schemas.microsoft.com/office/drawing/2014/main" id="{D8F4BD53-EE90-4295-9B9B-3A7690E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4  GRAVAÇÃO</a:t>
            </a:r>
          </a:p>
        </p:txBody>
      </p:sp>
      <p:sp>
        <p:nvSpPr>
          <p:cNvPr id="10" name="4  GRAVAÇÃO-desc">
            <a:extLst xmlns:a="http://schemas.openxmlformats.org/drawingml/2006/main">
              <a:ext uri="{FF2B5EF4-FFF2-40B4-BE49-F238E27FC236}">
                <a16:creationId xmlns:a16="http://schemas.microsoft.com/office/drawing/2014/main" id="{29CE3770-7B77-4569-8E81-6CD22D4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24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Registrar o resultado no destino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DECE6-4E4D-418A-B707-68FF5870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5045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BBD2F09-5B43-4774-BFE2-EDC83B4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Exemplo didático: uma instrução de soma</a:t>
            </a:r>
          </a:p>
        </p:txBody>
      </p:sp>
      <p:sp>
        <p:nvSpPr>
          <p:cNvPr id="3" name="code">
            <a:extLst xmlns:a="http://schemas.openxmlformats.org/drawingml/2006/main">
              <a:ext uri="{FF2B5EF4-FFF2-40B4-BE49-F238E27FC236}">
                <a16:creationId xmlns:a16="http://schemas.microsoft.com/office/drawing/2014/main" id="{46205AF4-722C-4FE8-A5FB-67A05EA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799F3210-D26D-41AB-B074-DF9CF474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Significado: R3 recebe R1 + R2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EBDD4-DBCD-4873-8C18-0D8256246A06}"/>
              </a:ext>
            </a:extLst>
          </p:cNvPr>
          <p:cNvGraphicFramePr/>
          <p:nvPr/>
        </p:nvGraphicFramePr>
        <p:xfrm>
          <a:off xmlns:a="http://schemas.openxmlformats.org/drawingml/2006/main" x="609600" y="4038600"/>
          <a:ext xmlns:a="http://schemas.openxmlformats.org/drawingml/2006/main" cx="10858500" cy="119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95313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59531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">
            <a:extLst xmlns:a="http://schemas.openxmlformats.org/drawingml/2006/main">
              <a:ext uri="{FF2B5EF4-FFF2-40B4-BE49-F238E27FC236}">
                <a16:creationId xmlns:a16="http://schemas.microsoft.com/office/drawing/2014/main" id="{C1ADC514-10D5-47DB-8AD7-88116374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Modelo fictício: destino primeiro e uma posição por instrução.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B39F0-DA81-4762-935D-F80ABA3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9019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667956B-B98C-44A8-B5C5-55DEC0C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Busca e decodificação da soma</a:t>
            </a:r>
          </a:p>
        </p:txBody>
      </p:sp>
      <p:sp>
        <p:nvSpPr>
          <p:cNvPr id="3" name="fetch">
            <a:extLst xmlns:a="http://schemas.openxmlformats.org/drawingml/2006/main">
              <a:ext uri="{FF2B5EF4-FFF2-40B4-BE49-F238E27FC236}">
                <a16:creationId xmlns:a16="http://schemas.microsoft.com/office/drawing/2014/main" id="{618568FF-33D8-4C2C-91D0-67B1FBF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BUSCA</a:t>
            </a:r>
          </a:p>
        </p:txBody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55890108-C7D7-4BAD-89CD-10A26BF4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inicial = 100</a:t>
            </a:r>
          </a:p>
          <a:p xmlns:a="http://schemas.openxmlformats.org/drawingml/2006/main"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RI = ADD R3, R1, R2</a:t>
            </a:r>
          </a:p>
          <a:p xmlns:a="http://schemas.openxmlformats.org/drawingml/2006/main"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após a busca = 101</a:t>
            </a:r>
          </a:p>
        </p:txBody>
      </p:sp>
      <p:sp>
        <p:nvSpPr>
          <p:cNvPr id="5" name="decode">
            <a:extLst xmlns:a="http://schemas.openxmlformats.org/drawingml/2006/main">
              <a:ext uri="{FF2B5EF4-FFF2-40B4-BE49-F238E27FC236}">
                <a16:creationId xmlns:a16="http://schemas.microsoft.com/office/drawing/2014/main" id="{31B43BAB-E8A6-4BC8-BC97-6E48E72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DECODIFICAÇÃO PELA UC</a:t>
            </a:r>
          </a:p>
        </p:txBody>
      </p:sp>
      <p:sp>
        <p:nvSpPr>
          <p:cNvPr id="6" name="decoded">
            <a:extLst xmlns:a="http://schemas.openxmlformats.org/drawingml/2006/main">
              <a:ext uri="{FF2B5EF4-FFF2-40B4-BE49-F238E27FC236}">
                <a16:creationId xmlns:a16="http://schemas.microsoft.com/office/drawing/2014/main" id="{5481C210-2582-4A67-9926-42AE56E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Operação: somar     Origens: R1 e R2     Destino: R3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CAFF-6F21-4E32-8B5F-F3612F8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8241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44569933-C6BB-4336-93C4-D1B85F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Execução e gravação do resultado</a:t>
            </a:r>
          </a:p>
        </p:txBody>
      </p:sp>
      <p:sp>
        <p:nvSpPr>
          <p:cNvPr id="3" name="calc">
            <a:extLst xmlns:a="http://schemas.openxmlformats.org/drawingml/2006/main">
              <a:ext uri="{FF2B5EF4-FFF2-40B4-BE49-F238E27FC236}">
                <a16:creationId xmlns:a16="http://schemas.microsoft.com/office/drawing/2014/main" id="{08B30833-EC9C-45B2-BF04-4105CAC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ULA</a:t>
            </a:r>
          </a:p>
        </p:txBody>
      </p:sp>
      <p:sp>
        <p:nvSpPr>
          <p:cNvPr id="4" name="operation">
            <a:extLst xmlns:a="http://schemas.openxmlformats.org/drawingml/2006/main">
              <a:ext uri="{FF2B5EF4-FFF2-40B4-BE49-F238E27FC236}">
                <a16:creationId xmlns:a16="http://schemas.microsoft.com/office/drawing/2014/main" id="{370911D7-C4E5-4E83-BF87-2591644C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5 + 3 = 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0579D-1D11-4909-824A-591ABE5D8E98}"/>
              </a:ext>
            </a:extLst>
          </p:cNvPr>
          <p:cNvGraphicFramePr/>
          <p:nvPr/>
        </p:nvGraphicFramePr>
        <p:xfrm>
          <a:off xmlns:a="http://schemas.openxmlformats.org/drawingml/2006/main" x="609600" y="3714750"/>
          <a:ext xmlns:a="http://schemas.openxmlformats.org/drawingml/2006/main" cx="108585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05000"/>
                <a:gridCol w="1905000"/>
                <a:gridCol w="1905000"/>
                <a:gridCol w="1905000"/>
              </a:tblGrid>
              <a:tr h="619125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final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619125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a soma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write">
            <a:extLst xmlns:a="http://schemas.openxmlformats.org/drawingml/2006/main">
              <a:ext uri="{FF2B5EF4-FFF2-40B4-BE49-F238E27FC236}">
                <a16:creationId xmlns:a16="http://schemas.microsoft.com/office/drawing/2014/main" id="{D774996B-E26B-4110-A5A4-9B0D1354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A UC coordena a escrita de 8 no registrador R3.</a:t>
            </a:r>
          </a:p>
        </p:txBody>
      </p:sp>
      <p:sp>
        <p:nvSpPr>
          <p:cNvPr id="7" name="ram">
            <a:extLst xmlns:a="http://schemas.openxmlformats.org/drawingml/2006/main">
              <a:ext uri="{FF2B5EF4-FFF2-40B4-BE49-F238E27FC236}">
                <a16:creationId xmlns:a16="http://schemas.microsoft.com/office/drawing/2014/main" id="{F52AFB55-9FBA-473B-81A0-96B70CDB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Neste exemplo, o resultado permanece em R3.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9840E-16EA-44CA-9FC2-3B8844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94391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4E9DD06-55FD-4789-9A43-4AEDAE4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Verificação da aprendizagem</a:t>
            </a:r>
          </a:p>
        </p:txBody>
      </p:sp>
      <p:sp>
        <p:nvSpPr>
          <p:cNvPr id="3" name="code">
            <a:extLst xmlns:a="http://schemas.openxmlformats.org/drawingml/2006/main">
              <a:ext uri="{FF2B5EF4-FFF2-40B4-BE49-F238E27FC236}">
                <a16:creationId xmlns:a16="http://schemas.microsoft.com/office/drawing/2014/main" id="{7BA5B1BA-5DCD-4A87-95CA-4672EF4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state">
            <a:extLst xmlns:a="http://schemas.openxmlformats.org/drawingml/2006/main">
              <a:ext uri="{FF2B5EF4-FFF2-40B4-BE49-F238E27FC236}">
                <a16:creationId xmlns:a16="http://schemas.microsoft.com/office/drawing/2014/main" id="{15B0534E-1AF9-4651-AF85-2CCDF0B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Estado inicial: R1 = 9, R2 = 4 e R3 = 0</a:t>
            </a:r>
          </a:p>
        </p:txBody>
      </p:sp>
      <p:sp>
        <p:nvSpPr>
          <p:cNvPr id="5" name="q1">
            <a:extLst xmlns:a="http://schemas.openxmlformats.org/drawingml/2006/main">
              <a:ext uri="{FF2B5EF4-FFF2-40B4-BE49-F238E27FC236}">
                <a16:creationId xmlns:a16="http://schemas.microsoft.com/office/drawing/2014/main" id="{A548A044-2C29-4D96-82DA-635F6E8E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01   Qual será o valor final de R3?</a:t>
            </a:r>
          </a:p>
        </p:txBody>
      </p:sp>
      <p:sp>
        <p:nvSpPr>
          <p:cNvPr id="6" name="q2">
            <a:extLst xmlns:a="http://schemas.openxmlformats.org/drawingml/2006/main">
              <a:ext uri="{FF2B5EF4-FFF2-40B4-BE49-F238E27FC236}">
                <a16:creationId xmlns:a16="http://schemas.microsoft.com/office/drawing/2014/main" id="{D9686839-AD1D-4920-A4B0-4907F7A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02   Quem realiza a soma e quem coordena a escrita?</a:t>
            </a:r>
          </a:p>
        </p:txBody>
      </p:sp>
      <p:sp>
        <p:nvSpPr>
          <p:cNvPr id="7" name="q3">
            <a:extLst xmlns:a="http://schemas.openxmlformats.org/drawingml/2006/main">
              <a:ext uri="{FF2B5EF4-FFF2-40B4-BE49-F238E27FC236}">
                <a16:creationId xmlns:a16="http://schemas.microsoft.com/office/drawing/2014/main" id="{E5A5D5FF-16CD-4392-907B-43BA47A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03   Onde o resultado permanece neste modelo?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BFC3B-18BA-418E-BB3F-9125592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3370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7C768-39AC-4369-B25B-2AE0ABF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Referências e créditos das imagens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89F0-2D70-4AD5-9CF3-B0D65713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MIT  MAS.865  Microprocessor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077D9-AE1D-4C14-B5BF-E2C15B9D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fab.cba.mit.edu/classes/865.18/computing/mpu/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F130C-3E52-4BE5-AFD4-AC318B2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Ken Shirriff  Engenharia reversa do ARM1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5A8B0-0763-499D-A999-22645E5A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righto.com/2015/12/reverse-engineering-arm1-ancestor-of.html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D27EA-5E9F-446F-B286-B1A83F6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Wikimedia Commons  Foto do Intel Core i5-8400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90916-BEB8-47C3-B478-1274AA3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Rainer Knäpper  licença Art Libre</a:t>
            </a:r>
          </a:p>
          <a:p xmlns:a="http://schemas.openxmlformats.org/drawingml/2006/main"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Esquemas didáticos elaborados para esta apresentação.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6915E-C494-4A52-9C86-DCEEE06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8490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2026-10-22T21:09:02.5270000Z</dcterms:created>
  <dcterms:modified xsi:type="dcterms:W3CDTF">2026-10-22T21:09:02.5270000Z</dcterms:modified>
</coreProperties>
</file>
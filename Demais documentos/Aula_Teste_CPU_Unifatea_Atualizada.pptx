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691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0:00 a 0:40. Apresentar o objetivo: explicar como ULA, registradores e Unidade de Controle participam da execução de uma instrução. Pergunta mobilizadora: quando pedimos uma soma ao computador, qual parte calcula e onde fica o resultado? Não antecipar todas as respostas. Público previsto: graduação em início de formação. A aula usa um núcleo simplificado e não a planta física de um processador real.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0:40 a 1:30. Arquitetura descreve recursos e comportamentos que o software pode usar, como instruções e registradores arquiteturais. Organização descreve como os componentes implementam esses recursos. A microarquitetura é um nível dessa implementação interna. O mesmo conjunto de instruções pode ter diferentes implementações. Nesta aula vamos relacionar a instrução de soma com a organização funcional de um núcleo, sem aprofundar pipeline ou caches.</a:t>
            </a:r>
          </a:p>
          <a:p>
            <a:endParaRPr/>
          </a:p>
          <a:p>
            <a:r>
              <a:t>Referências: https://www.arm.com/architecture/cpu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Foto: Intel Core i5-8400, Rainer Knäpper, licença Art Libre. https://commons.wikimedia.org/wiki/File:Intel_core_i5-8400_top_IMGP6108_smial_wp.jpg . A imagem externa não permite ver ULA, registradores ou 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Imagem do leiaute interno anotado do ARM1: Ken Shirriff, reproduzida em MIT MAS.865 (2018). https://fab.cba.mit.edu/classes/865.18/computing/mpu/chip_labeled.png . Contexto original: http://www.righto.com/2015/12/reverse-engineering-arm1-ancestor-of.html . ULA e UC não são peças removíveis; são circuitos integrados ao chip. Usar a imagem brevemente, sem detalhar todos os rótulos em inglês.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Esquema didático autoral: memória fora da CPU; UC, registradores e ULA dentro de um núcleo. Cache, E/S e detalhes dos barramentos foram omitidos. A linha memória-CPU representa de forma agregada transferências de instruções e dados. Fonte conceitual: MIT MAS.865, https://fab.cba.mit.edu/classes/865.18/computing/mpu/index.html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3:15 a 4:20. Definir ULA como circuito responsável por operações aritméticas e lógicas. Neste exemplo, ela soma operandos recebidos dos registradores. Exemplos aritméticos: adição e subtração. Exemplos lógicos: AND e OR sobre bits. Comparações podem usar resultados e sinais de estado produzidos por essas operações, dependendo da arquitetura. Não afirmar que multiplicação e divisão sempre pertencem à mesma ULA simples. A ULA calcula; registradores guardam os valores.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4:20 a 5:25. Registradores são pequenas posições de armazenamento dentro do núcleo, com acesso rápido e funções definidas. R1 e R2 guardarão os operandos e R3 receberá o resultado. O exemplo já começa com os operandos carregados, sem mostrar as instruções que os trouxeram da memória. Não confundir registradores com RAM nem com cache. Quantidade, nomes e larguras variam conforme a arquitetura.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5:25 a 6:25. Apresentar PC como contador de programa, usado para indicar o endereço da próxima instrução a buscar no modelo. RI significa registrador de instrução, que representa a instrução em processamento no modelo. A notação e a existência de um único RI visível variam entre processadores; não apresentar como uma lista universal. A memória guarda a codificação binária, embora a aula escreva o mnemônico legível. O PC guarda um endereço, não o resultado da soma. Neste modelo as instruções ocupam uma posição e a busca sequencial atualiza o PC de 100 para 101.</a:t>
            </a:r>
          </a:p>
          <a:p>
            <a:endParaRPr/>
          </a:p>
          <a:p>
            <a:r>
              <a:t>Referências: https://www.arm.com/glossary/cpu</a:t>
            </a:r>
          </a:p>
          <a:p>
            <a:r>
              <a:t>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6:25 a 7:25. A Unidade de Controle interpreta a instrução e gera sinais que coordenam leitura de registradores, escolha da operação da ULA e escrita do resultado. Ela não realiza a soma no lugar da ULA. No nosso modelo a UC identifica ADD, seleciona R1 e R2 como origens e R3 como destino. Os sinais podem ser implementados de formas diferentes, mas o papel funcional é o foco.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7:25 a 8:40. Apresentar uma sequência funcional de busca, decodificação, execução e gravação do resultado. Alguns modelos agrupam gravação na execução e algumas instruções não produzem resultado em registrador. A sequência mostrada é adequada à soma do exemplo. Não afirmar que cada etapa dura um pulso de clock ou que uma instrução equivale a um ciclo. CPUs modernas podem sobrepor etapas e executar várias instruções em paralelo. A busca usa o sistema de memória, com caches omitidos no modelo.</a:t>
            </a:r>
          </a:p>
          <a:p>
            <a:endParaRPr/>
          </a:p>
          <a:p>
            <a:r>
              <a:t>Referências: https://www.intel.com/content/www/us/en/education/k12/the-journey-inside/explore-the-curriculum/microprocessors.html</a:t>
            </a:r>
          </a:p>
          <a:p>
            <a:r>
              <a:t>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8:40 a 9:40. Definir explicitamente a máquina didática. A instrução é um mnemônico em pseudolinguagem de montagem e não um comando de uma arquitetura real específica. Sintaxe escolhida: primeiro o destino, depois as duas origens. ADD R3, R1, R2 significa R3 recebe R1 mais R2. Estado inicial: R1=5, R2=3, R3=0 e PC=100. A posição 100 contém a instrução ADD e cada instrução ocupa uma posição nesse modelo. Os valores são decimais apenas para facilitar a leitura. Na memória e nos circuitos, as codificações são binárias. Perguntar qual deve ser o resultado, sem atribuir à UC o cálculo.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9:40 a 11:00. Mostrar passo a passo: PC=100 fornece o endereço para a busca. A instrução da posição 100 é recebida no RI do modelo. O PC avança para 101 para a busca sequencial seguinte. A UC decodifica ADD e identifica origens R1 e R2 e destino R3. O exemplo não contém salto ou desvio. O avanço de uma posição é uma convenção didática, não a regra universal de CPUs endereçadas por byte. Ao final desse slide, R3 continua 0 porque ainda não demonstramos a gravação do resultado.</a:t>
            </a:r>
          </a:p>
          <a:p>
            <a:endParaRPr/>
          </a:p>
          <a:p>
            <a:r>
              <a:t>Referências: https://www.intel.com/content/www/us/en/education/k12/the-journey-inside/explore-the-curriculum/microprocessors.html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Tempo: 11:00 a 13:00. Retomar estado inicial sem alterar origens. Sob coordenação da UC, os valores 5 e 3 são lidos dos registradores e enviados à ULA, que calcula 8. A escrita habilitada pela UC registra 8 em R3. R1 e R2 permanecem iguais. O resultado não foi automaticamente gravado na RAM nem exibido na tela: isso exigiria outras operações. Verificar a divisão de responsabilidades: quem calcula? ULA. Onde o valor fica? R3. Quem coordena? UC. O PC já aponta 101 no modelo.</a:t>
            </a:r>
          </a:p>
          <a:p>
            <a:endParaRPr/>
          </a:p>
          <a:p>
            <a:r>
              <a:t>Referências: https://www.arm.com/glossary/cpu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 consultadas em 22/10/2026. Foto https://commons.wikimedia.org/wiki/File:Intel_core_i5-8400_top_IMGP6108_smial_wp.jpg . Esquemas são modelos simplificados. Não afirmar que todas as instruções usam ULA ou que PC sempre incrementa em 1; esse incremento pertence ao modelo fictício do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EE694F0D-2B94-4FAA-AD3E-B5BB2FBF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xmlns="" id="{F22D6118-FE2E-417C-848C-808261EDB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xmlns="" id="{49BF8621-5FED-423F-98E6-34C253407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77FB836F-D64F-409C-AE5F-481176A1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xmlns="" id="{8E6B5CE1-1F88-4197-BD4E-E41CE6A19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xmlns="" id="{05A1732B-0564-478C-BCA3-A20CB3DEA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B913F36A-1C2F-4460-83C9-9350A0719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xmlns="" id="{56E8757B-EFD7-4A83-A87B-BB90E87A532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xmlns="" id="{78FFC52B-CFF3-40E2-8D4E-70D026D5C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xmlns="" id="{3D272502-691A-4F46-9D16-02251C4EF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virtual.com.br/NossoAcervo/Publicacao/151479?utm_source=chatgpt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fab.cba.mit.edu/classes/865.18/computing/mpu/" TargetMode="External"/><Relationship Id="rId4" Type="http://schemas.openxmlformats.org/officeDocument/2006/relationships/hyperlink" Target="https://biblioteca.ifrj.edu.br/cgi-bin/koha/opac-detail.pl?biblionumber=14423&amp;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:a16="http://schemas.microsoft.com/office/drawing/2014/main" xmlns="" id="{D4B4024F-A3F9-4630-806C-4ED47C4D98E5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 de Computadores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xmlns="" id="{DC210C80-B2E5-4F53-B4C1-5BBD00DDFEA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a CPU executa</a:t>
            </a:r>
          </a:p>
          <a:p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uma instrução</a:t>
            </a:r>
          </a:p>
        </p:txBody>
      </p:sp>
      <p:sp>
        <p:nvSpPr>
          <p:cNvPr id="4" name="components">
            <a:extLst>
              <a:ext uri="{FF2B5EF4-FFF2-40B4-BE49-F238E27FC236}">
                <a16:creationId xmlns:a16="http://schemas.microsoft.com/office/drawing/2014/main" xmlns="" id="{73ACCB0A-C20C-4AEB-84FB-CB990D992ED8}"/>
              </a:ext>
            </a:extLst>
          </p:cNvPr>
          <p:cNvSpPr>
            <a:spLocks noGrp="1"/>
          </p:cNvSpPr>
          <p:nvPr/>
        </p:nvSpPr>
        <p:spPr>
          <a:xfrm>
            <a:off x="609600" y="39528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ULA, registradores e Unidade de Controle</a:t>
            </a:r>
          </a:p>
        </p:txBody>
      </p:sp>
      <p:sp>
        <p:nvSpPr>
          <p:cNvPr id="5" name="objective">
            <a:extLst>
              <a:ext uri="{FF2B5EF4-FFF2-40B4-BE49-F238E27FC236}">
                <a16:creationId xmlns:a16="http://schemas.microsoft.com/office/drawing/2014/main" xmlns="" id="{B8932FBD-A91F-48E1-9FD3-F8050C72B647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85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Objetivo: identificar a função de cada componente</a:t>
            </a:r>
          </a:p>
          <a:p>
            <a:pPr>
              <a:buNone/>
              <a:def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 acompanhar uma soma dentro da CPU.</a:t>
            </a:r>
          </a:p>
        </p:txBody>
      </p:sp>
      <p:sp>
        <p:nvSpPr>
          <p:cNvPr id="6" name="author">
            <a:extLst>
              <a:ext uri="{FF2B5EF4-FFF2-40B4-BE49-F238E27FC236}">
                <a16:creationId xmlns:a16="http://schemas.microsoft.com/office/drawing/2014/main" xmlns="" id="{901F5997-43C6-4D1C-A33E-7DCA29140B13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47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Prof.ª Giulianie Aparecida Machado Ferreira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9A370D75-8523-453E-AA22-DF541B1749C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xmlns="" val="204356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xmlns="" id="{9BBBAACF-651C-4902-B363-5BF94412238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Arquitetura e organização</a:t>
            </a:r>
          </a:p>
        </p:txBody>
      </p:sp>
      <p:sp>
        <p:nvSpPr>
          <p:cNvPr id="3" name="ARQUITETURA-label">
            <a:extLst>
              <a:ext uri="{FF2B5EF4-FFF2-40B4-BE49-F238E27FC236}">
                <a16:creationId xmlns:a16="http://schemas.microsoft.com/office/drawing/2014/main" xmlns="" id="{AED4B36F-144C-474E-AC52-E3D114096052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ARQUITETURA</a:t>
            </a:r>
          </a:p>
        </p:txBody>
      </p:sp>
      <p:sp>
        <p:nvSpPr>
          <p:cNvPr id="4" name="ARQUITETURA-desc">
            <a:extLst>
              <a:ext uri="{FF2B5EF4-FFF2-40B4-BE49-F238E27FC236}">
                <a16:creationId xmlns:a16="http://schemas.microsoft.com/office/drawing/2014/main" xmlns="" id="{4A1D739D-35E1-4F5C-A996-1BC308099FCE}"/>
              </a:ext>
            </a:extLst>
          </p:cNvPr>
          <p:cNvSpPr>
            <a:spLocks noGrp="1"/>
          </p:cNvSpPr>
          <p:nvPr/>
        </p:nvSpPr>
        <p:spPr>
          <a:xfrm>
            <a:off x="4476750" y="17621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 que o software pode usar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Instruções e registradores visíveis</a:t>
            </a:r>
          </a:p>
        </p:txBody>
      </p:sp>
      <p:sp>
        <p:nvSpPr>
          <p:cNvPr id="5" name="ORGANIZAÇÃO-label">
            <a:extLst>
              <a:ext uri="{FF2B5EF4-FFF2-40B4-BE49-F238E27FC236}">
                <a16:creationId xmlns:a16="http://schemas.microsoft.com/office/drawing/2014/main" xmlns="" id="{46D81823-6684-46C2-92E6-49029B866FEC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ORGANIZAÇÃO</a:t>
            </a:r>
          </a:p>
        </p:txBody>
      </p:sp>
      <p:sp>
        <p:nvSpPr>
          <p:cNvPr id="6" name="ORGANIZAÇÃO-desc">
            <a:extLst>
              <a:ext uri="{FF2B5EF4-FFF2-40B4-BE49-F238E27FC236}">
                <a16:creationId xmlns:a16="http://schemas.microsoft.com/office/drawing/2014/main" xmlns="" id="{26CC0718-E687-445C-B548-CB0C0178DB70}"/>
              </a:ext>
            </a:extLst>
          </p:cNvPr>
          <p:cNvSpPr>
            <a:spLocks noGrp="1"/>
          </p:cNvSpPr>
          <p:nvPr/>
        </p:nvSpPr>
        <p:spPr>
          <a:xfrm>
            <a:off x="4476750" y="338137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Como os componentes implementam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a execução dessas instruções</a:t>
            </a:r>
          </a:p>
        </p:txBody>
      </p:sp>
      <p:sp>
        <p:nvSpPr>
          <p:cNvPr id="7" name="focus">
            <a:extLst>
              <a:ext uri="{FF2B5EF4-FFF2-40B4-BE49-F238E27FC236}">
                <a16:creationId xmlns:a16="http://schemas.microsoft.com/office/drawing/2014/main" xmlns="" id="{9425CFDC-886F-42F2-8FD5-3EE8E590E990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Recorte da aula: o funcionamento de um núcleo simplificado.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6D4A0836-98A0-4719-B3FE-17B6C52177DB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xmlns="" val="124636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9762A3CD-B8CB-4F91-A670-EF614BFBADF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CPU  Unidade Central de Processamento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F1166475-5088-4C99-841A-901B19BBB414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628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Executa instruções e coordena</a:t>
            </a:r>
          </a:p>
          <a:p>
            <a:pPr>
              <a:def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operações de processamento.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9746BEA2-968D-4308-A424-0E1130777407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61912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Um processador pode ter vários núcleos.</a:t>
            </a:r>
          </a:p>
          <a:p>
            <a:pPr>
              <a:def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Aqui, estudaremos um núcleo simplificado.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1E3D59A4-EDCD-4BA5-B477-06EA044308A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/>
        </p:blipFill>
        <p:spPr>
          <a:xfrm>
            <a:off x="7687157" y="1571625"/>
            <a:ext cx="3389935" cy="338137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59976C1E-2C54-451A-89CD-9366639C78A8}"/>
              </a:ext>
            </a:extLst>
          </p:cNvPr>
          <p:cNvSpPr>
            <a:spLocks noGrp="1"/>
          </p:cNvSpPr>
          <p:nvPr/>
        </p:nvSpPr>
        <p:spPr>
          <a:xfrm>
            <a:off x="7191375" y="5191125"/>
            <a:ext cx="4381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Encapsulamento de um processador real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419F600D-4B7C-4B8B-9B24-6AB90ADC19DC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Os circuitos internos ficam sob a cobertura metálica.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DD8A0406-F59C-4E9D-9C8B-FBECABCD331A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xmlns="" val="117353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ECEFAF98-0EF6-405B-B88F-BA61B9965C6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Os componentes dentro do chip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xmlns="" id="{9E63DC79-95B3-416F-ADD1-DD3DEE353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4829" y="1428750"/>
            <a:ext cx="4566342" cy="4572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4C321CB6-733D-47C3-97E8-666BA583A66A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533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Exemplo histórico  ARM1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88648190-4514-4F0A-9A06-BFD2A183D38F}"/>
              </a:ext>
            </a:extLst>
          </p:cNvPr>
          <p:cNvSpPr>
            <a:spLocks noGrp="1"/>
          </p:cNvSpPr>
          <p:nvPr/>
        </p:nvSpPr>
        <p:spPr>
          <a:xfrm>
            <a:off x="6191250" y="2333625"/>
            <a:ext cx="523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</a:t>
            </a:r>
          </a:p>
          <a:p>
            <a:pPr>
              <a:def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 Controle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7E7950D4-C3DB-4C69-8E77-C0CE547B4B92}"/>
              </a:ext>
            </a:extLst>
          </p:cNvPr>
          <p:cNvSpPr>
            <a:spLocks noGrp="1"/>
          </p:cNvSpPr>
          <p:nvPr/>
        </p:nvSpPr>
        <p:spPr>
          <a:xfrm>
            <a:off x="6191250" y="3381375"/>
            <a:ext cx="523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Register file</a:t>
            </a:r>
          </a:p>
          <a:p>
            <a:pPr>
              <a:def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Banco de registradores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3AFE123F-3E98-4CE3-9227-03E661642D9B}"/>
              </a:ext>
            </a:extLst>
          </p:cNvPr>
          <p:cNvSpPr>
            <a:spLocks noGrp="1"/>
          </p:cNvSpPr>
          <p:nvPr/>
        </p:nvSpPr>
        <p:spPr>
          <a:xfrm>
            <a:off x="6191250" y="4429125"/>
            <a:ext cx="5238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ALU</a:t>
            </a:r>
          </a:p>
          <a:p>
            <a:pPr>
              <a:def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Unidade Lógico-Aritmética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546F2E1B-9215-493E-9E3A-9ECD6B4ED6FB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Imagem interna anotada; a disposição varia entre processadores.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D055C9FF-C6E6-4BC8-A86F-2EA9A26B5241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xmlns="" val="828518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xmlns="" id="{CAE9ACC5-10A2-4B47-AB2E-02930072702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Esquema da arquitetura  modelo simplificado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119BDD26-0122-43F3-BF9D-F1E67BF3FB76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2476500" cy="1809750"/>
          </a:xfrm>
          <a:prstGeom prst="rect">
            <a:avLst/>
          </a:prstGeom>
          <a:solidFill>
            <a:srgbClr val="0D1726"/>
          </a:solidFill>
          <a:ln w="19050">
            <a:solidFill>
              <a:srgbClr val="F5F7FF"/>
            </a:solidFill>
            <a:prstDash val="solid"/>
          </a:ln>
        </p:spPr>
        <p:txBody>
          <a:bodyPr anchor="ctr"/>
          <a:lstStyle>
            <a:def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MEMÓRIA PRINCIPAL</a:t>
            </a:r>
          </a:p>
          <a:p>
            <a:endParaRPr/>
          </a:p>
          <a:p>
            <a:pPr algn="ctr">
              <a:def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Instruções e 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162A3F91-5708-4119-BE47-4925FE692ABC}"/>
              </a:ext>
            </a:extLst>
          </p:cNvPr>
          <p:cNvSpPr>
            <a:spLocks noGrp="1"/>
          </p:cNvSpPr>
          <p:nvPr/>
        </p:nvSpPr>
        <p:spPr>
          <a:xfrm>
            <a:off x="3857625" y="1447800"/>
            <a:ext cx="7715250" cy="432435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9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endParaRPr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DCB35A60-8F26-42A8-982C-EC5282B99E32}"/>
              </a:ext>
            </a:extLst>
          </p:cNvPr>
          <p:cNvSpPr>
            <a:spLocks noGrp="1"/>
          </p:cNvSpPr>
          <p:nvPr/>
        </p:nvSpPr>
        <p:spPr>
          <a:xfrm>
            <a:off x="4095750" y="1571625"/>
            <a:ext cx="666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CPU  um núcleo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812B7D6A-9376-4BBB-B8F5-F6CD275CF651}"/>
              </a:ext>
            </a:extLst>
          </p:cNvPr>
          <p:cNvSpPr>
            <a:spLocks noGrp="1"/>
          </p:cNvSpPr>
          <p:nvPr/>
        </p:nvSpPr>
        <p:spPr>
          <a:xfrm>
            <a:off x="5905500" y="2238375"/>
            <a:ext cx="4953000" cy="857250"/>
          </a:xfrm>
          <a:prstGeom prst="rect">
            <a:avLst/>
          </a:prstGeom>
          <a:solidFill>
            <a:srgbClr val="0D1726"/>
          </a:solidFill>
          <a:ln w="19050">
            <a:solidFill>
              <a:srgbClr val="FFE08A"/>
            </a:solidFill>
            <a:prstDash val="solid"/>
          </a:ln>
        </p:spPr>
        <p:txBody>
          <a:bodyPr anchor="ctr"/>
          <a:lstStyle>
            <a:def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 CONTROLE</a:t>
            </a:r>
          </a:p>
          <a:p>
            <a:pPr algn="ctr">
              <a:def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Decodifica e coordena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931A8589-4D31-4ABF-B685-5FBA399A6954}"/>
              </a:ext>
            </a:extLst>
          </p:cNvPr>
          <p:cNvSpPr>
            <a:spLocks noGrp="1"/>
          </p:cNvSpPr>
          <p:nvPr/>
        </p:nvSpPr>
        <p:spPr>
          <a:xfrm>
            <a:off x="4286250" y="4048125"/>
            <a:ext cx="3238500" cy="1000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REGISTRADORES</a:t>
            </a:r>
          </a:p>
          <a:p>
            <a:pPr algn="ctr">
              <a:def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Operandos e resultados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11049DD8-AAAC-40EC-8AC9-18045A60C726}"/>
              </a:ext>
            </a:extLst>
          </p:cNvPr>
          <p:cNvSpPr>
            <a:spLocks noGrp="1"/>
          </p:cNvSpPr>
          <p:nvPr/>
        </p:nvSpPr>
        <p:spPr>
          <a:xfrm>
            <a:off x="8524875" y="4048125"/>
            <a:ext cx="2619375" cy="1000125"/>
          </a:xfrm>
          <a:prstGeom prst="rect">
            <a:avLst/>
          </a:prstGeom>
          <a:solidFill>
            <a:srgbClr val="0D1726"/>
          </a:solidFill>
          <a:ln w="19050">
            <a:solidFill>
              <a:srgbClr val="FFAB80"/>
            </a:solidFill>
            <a:prstDash val="solid"/>
          </a:ln>
        </p:spPr>
        <p:txBody>
          <a:bodyPr anchor="ctr"/>
          <a:lstStyle>
            <a:def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ULA</a:t>
            </a:r>
          </a:p>
          <a:p>
            <a:pPr algn="ctr">
              <a:def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80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Opera sobre os dados</a:t>
            </a:r>
          </a:p>
        </p:txBody>
      </p:sp>
      <p:sp>
        <p:nvSpPr>
          <p:cNvPr id="8" name="Seta para a esquerda e para a direita 7">
            <a:extLst>
              <a:ext uri="{FF2B5EF4-FFF2-40B4-BE49-F238E27FC236}">
                <a16:creationId xmlns:a16="http://schemas.microsoft.com/office/drawing/2014/main" xmlns="" id="{8993AF81-28A5-4585-A5CB-567D24F1133F}"/>
              </a:ext>
            </a:extLst>
          </p:cNvPr>
          <p:cNvSpPr>
            <a:spLocks noGrp="1"/>
          </p:cNvSpPr>
          <p:nvPr/>
        </p:nvSpPr>
        <p:spPr>
          <a:xfrm>
            <a:off x="3124200" y="2781300"/>
            <a:ext cx="685800" cy="257175"/>
          </a:xfrm>
          <a:prstGeom prst="leftRightArrow">
            <a:avLst/>
          </a:prstGeom>
          <a:solidFill>
            <a:srgbClr val="F5F7FF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BC697BF2-E990-4B6E-A9D0-D5FF92D6F120}"/>
              </a:ext>
            </a:extLst>
          </p:cNvPr>
          <p:cNvSpPr>
            <a:spLocks noGrp="1"/>
          </p:cNvSpPr>
          <p:nvPr/>
        </p:nvSpPr>
        <p:spPr>
          <a:xfrm>
            <a:off x="647700" y="4429125"/>
            <a:ext cx="266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Busca e</a:t>
            </a:r>
          </a:p>
          <a:p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transferências</a:t>
            </a:r>
          </a:p>
        </p:txBody>
      </p:sp>
      <p:sp>
        <p:nvSpPr>
          <p:cNvPr id="10" name="Seta para a direita 9">
            <a:extLst>
              <a:ext uri="{FF2B5EF4-FFF2-40B4-BE49-F238E27FC236}">
                <a16:creationId xmlns:a16="http://schemas.microsoft.com/office/drawing/2014/main" xmlns="" id="{27B4B819-37DD-4CBA-A4BE-139A4D1079CE}"/>
              </a:ext>
            </a:extLst>
          </p:cNvPr>
          <p:cNvSpPr>
            <a:spLocks noGrp="1"/>
          </p:cNvSpPr>
          <p:nvPr/>
        </p:nvSpPr>
        <p:spPr>
          <a:xfrm>
            <a:off x="7667625" y="4410075"/>
            <a:ext cx="704850" cy="228600"/>
          </a:xfrm>
          <a:prstGeom prst="rightArrow">
            <a:avLst/>
          </a:prstGeom>
          <a:solidFill>
            <a:srgbClr val="78C7FF"/>
          </a:solidFill>
          <a:ln w="0">
            <a:noFill/>
            <a:prstDash val="solid"/>
          </a:ln>
        </p:spPr>
      </p:sp>
      <p:sp>
        <p:nvSpPr>
          <p:cNvPr id="11" name="Seta para baixo 10">
            <a:extLst>
              <a:ext uri="{FF2B5EF4-FFF2-40B4-BE49-F238E27FC236}">
                <a16:creationId xmlns:a16="http://schemas.microsoft.com/office/drawing/2014/main" xmlns="" id="{4B4A94EC-A82C-4622-92D0-547940696709}"/>
              </a:ext>
            </a:extLst>
          </p:cNvPr>
          <p:cNvSpPr>
            <a:spLocks noGrp="1"/>
          </p:cNvSpPr>
          <p:nvPr/>
        </p:nvSpPr>
        <p:spPr>
          <a:xfrm>
            <a:off x="6953250" y="3143250"/>
            <a:ext cx="209550" cy="714375"/>
          </a:xfrm>
          <a:prstGeom prst="down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12" name="Seta para baixo 11">
            <a:extLst>
              <a:ext uri="{FF2B5EF4-FFF2-40B4-BE49-F238E27FC236}">
                <a16:creationId xmlns:a16="http://schemas.microsoft.com/office/drawing/2014/main" xmlns="" id="{7969B318-02F1-4A6A-B4D5-682E8360AC4E}"/>
              </a:ext>
            </a:extLst>
          </p:cNvPr>
          <p:cNvSpPr>
            <a:spLocks noGrp="1"/>
          </p:cNvSpPr>
          <p:nvPr/>
        </p:nvSpPr>
        <p:spPr>
          <a:xfrm>
            <a:off x="9620250" y="3143250"/>
            <a:ext cx="209550" cy="714375"/>
          </a:xfrm>
          <a:prstGeom prst="down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93F50F39-A059-4F84-B367-5AF9F154A3C9}"/>
              </a:ext>
            </a:extLst>
          </p:cNvPr>
          <p:cNvSpPr>
            <a:spLocks noGrp="1"/>
          </p:cNvSpPr>
          <p:nvPr/>
        </p:nvSpPr>
        <p:spPr>
          <a:xfrm>
            <a:off x="7858125" y="3324225"/>
            <a:ext cx="1571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xmlns="" id="{2ECF6EFA-7840-4D4C-BD73-7A9CA8639F01}"/>
              </a:ext>
            </a:extLst>
          </p:cNvPr>
          <p:cNvSpPr>
            <a:spLocks noGrp="1"/>
          </p:cNvSpPr>
          <p:nvPr/>
        </p:nvSpPr>
        <p:spPr>
          <a:xfrm>
            <a:off x="4286250" y="5276850"/>
            <a:ext cx="6858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Resultado da ULA retorna aos registradores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29409C46-3C84-47D2-9037-E63CEE5DD53C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76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Azul: caminho de dados   Amarelo: sinais de controle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xmlns="" id="{9CE2F47E-FEBB-47B9-923C-2C16ADBD7DF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xmlns="" val="66309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xmlns="" id="{6338AA60-CB48-42FA-A663-D923779852A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ULA  Unidade Lógico Aritmética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E36986BF-AFFD-4267-8063-6A2A9F736108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Recebe operandos e realiza a operação selecionada.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E7EBFCE7-87BF-44F0-9450-86F10CCC93A6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2286000" cy="7620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R1 = 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57A60D08-B74C-42C7-B9CF-A9523DEC57A0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2286000" cy="7620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R2 = 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5236922A-544A-419C-B920-B527479D2189}"/>
              </a:ext>
            </a:extLst>
          </p:cNvPr>
          <p:cNvSpPr>
            <a:spLocks noGrp="1"/>
          </p:cNvSpPr>
          <p:nvPr/>
        </p:nvSpPr>
        <p:spPr>
          <a:xfrm>
            <a:off x="4762500" y="3048000"/>
            <a:ext cx="2286000" cy="1524000"/>
          </a:xfrm>
          <a:prstGeom prst="rect">
            <a:avLst/>
          </a:prstGeom>
          <a:solidFill>
            <a:srgbClr val="0D1726"/>
          </a:solidFill>
          <a:ln w="19050">
            <a:solidFill>
              <a:srgbClr val="FFAB80"/>
            </a:solidFill>
            <a:prstDash val="solid"/>
          </a:ln>
        </p:spPr>
        <p:txBody>
          <a:bodyPr anchor="ctr"/>
          <a:lstStyle>
            <a:def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ULA</a:t>
            </a:r>
          </a:p>
          <a:p>
            <a:pPr algn="ctr">
              <a:def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defRPr>
            </a:pPr>
            <a:r>
              <a:rPr sz="2550">
                <a:solidFill>
                  <a:srgbClr val="FFAB80"/>
                </a:solidFill>
                <a:latin typeface="DejaVu Sans"/>
                <a:ea typeface="DejaVu Sans"/>
                <a:cs typeface="DejaVu Sans"/>
              </a:rPr>
              <a:t>SOMA</a:t>
            </a:r>
          </a:p>
        </p:txBody>
      </p:sp>
      <p:sp>
        <p:nvSpPr>
          <p:cNvPr id="6" name="Seta para a direita 5">
            <a:extLst>
              <a:ext uri="{FF2B5EF4-FFF2-40B4-BE49-F238E27FC236}">
                <a16:creationId xmlns:a16="http://schemas.microsoft.com/office/drawing/2014/main" xmlns="" id="{A5F96783-C62A-496B-9D3E-ED533DCD9857}"/>
              </a:ext>
            </a:extLst>
          </p:cNvPr>
          <p:cNvSpPr>
            <a:spLocks noGrp="1"/>
          </p:cNvSpPr>
          <p:nvPr/>
        </p:nvSpPr>
        <p:spPr>
          <a:xfrm>
            <a:off x="3333750" y="2981325"/>
            <a:ext cx="1143000" cy="266700"/>
          </a:xfrm>
          <a:prstGeom prst="rightArrow">
            <a:avLst/>
          </a:prstGeom>
          <a:solidFill>
            <a:srgbClr val="78C7FF"/>
          </a:solidFill>
          <a:ln w="0">
            <a:noFill/>
            <a:prstDash val="solid"/>
          </a:ln>
        </p:spPr>
      </p:sp>
      <p:sp>
        <p:nvSpPr>
          <p:cNvPr id="7" name="Seta para a direita 6">
            <a:extLst>
              <a:ext uri="{FF2B5EF4-FFF2-40B4-BE49-F238E27FC236}">
                <a16:creationId xmlns:a16="http://schemas.microsoft.com/office/drawing/2014/main" xmlns="" id="{4A4C5FF5-2C37-4FCE-93F7-0101137387B0}"/>
              </a:ext>
            </a:extLst>
          </p:cNvPr>
          <p:cNvSpPr>
            <a:spLocks noGrp="1"/>
          </p:cNvSpPr>
          <p:nvPr/>
        </p:nvSpPr>
        <p:spPr>
          <a:xfrm>
            <a:off x="3333750" y="4219575"/>
            <a:ext cx="1143000" cy="266700"/>
          </a:xfrm>
          <a:prstGeom prst="rightArrow">
            <a:avLst/>
          </a:prstGeom>
          <a:solidFill>
            <a:srgbClr val="78C7FF"/>
          </a:solidFill>
          <a:ln w="0">
            <a:noFill/>
            <a:prstDash val="solid"/>
          </a:ln>
        </p:spPr>
      </p:sp>
      <p:sp>
        <p:nvSpPr>
          <p:cNvPr id="8" name="Seta para a direita 7">
            <a:extLst>
              <a:ext uri="{FF2B5EF4-FFF2-40B4-BE49-F238E27FC236}">
                <a16:creationId xmlns:a16="http://schemas.microsoft.com/office/drawing/2014/main" xmlns="" id="{47D4560D-FFC5-444D-BE26-E79921338523}"/>
              </a:ext>
            </a:extLst>
          </p:cNvPr>
          <p:cNvSpPr>
            <a:spLocks noGrp="1"/>
          </p:cNvSpPr>
          <p:nvPr/>
        </p:nvSpPr>
        <p:spPr>
          <a:xfrm>
            <a:off x="7286625" y="3667125"/>
            <a:ext cx="1000125" cy="266700"/>
          </a:xfrm>
          <a:prstGeom prst="rightArrow">
            <a:avLst/>
          </a:prstGeom>
          <a:solidFill>
            <a:srgbClr val="FFAB80"/>
          </a:solidFill>
          <a:ln w="0">
            <a:noFill/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7E51F59C-E2FA-4030-A8DF-40501ECD57A0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2667000" cy="7620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4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R3 = 8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D068F516-490A-4FD0-BE47-1B161159E77D}"/>
              </a:ext>
            </a:extLst>
          </p:cNvPr>
          <p:cNvSpPr>
            <a:spLocks noGrp="1"/>
          </p:cNvSpPr>
          <p:nvPr/>
        </p:nvSpPr>
        <p:spPr>
          <a:xfrm>
            <a:off x="4095750" y="2286000"/>
            <a:ext cx="457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UC seleciona a operação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53BFB01B-D7E8-4B0D-A352-CF384D57EE37}"/>
              </a:ext>
            </a:extLst>
          </p:cNvPr>
          <p:cNvSpPr>
            <a:spLocks noGrp="1"/>
          </p:cNvSpPr>
          <p:nvPr/>
        </p:nvSpPr>
        <p:spPr>
          <a:xfrm>
            <a:off x="609600" y="5457825"/>
            <a:ext cx="1076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Outras operações: subtração, AND, OR e comparações.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85F6D993-3D9D-4E70-8CC5-B801C493185C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xmlns="" val="921913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1244D830-A529-4C15-9A70-EFCD3E34354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Registradores  armazenamento no núcleo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2378729C-CB48-4F0E-BCCE-6CE0DBFF9565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763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Mantêm operandos, resultados e informações de controle.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ED117EE1-4521-443A-A5BC-1B37B3963BEC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2571750" cy="1381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R1</a:t>
            </a:r>
          </a:p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6FCE09D3-F8B7-400D-B258-AE055E4E978C}"/>
              </a:ext>
            </a:extLst>
          </p:cNvPr>
          <p:cNvSpPr>
            <a:spLocks noGrp="1"/>
          </p:cNvSpPr>
          <p:nvPr/>
        </p:nvSpPr>
        <p:spPr>
          <a:xfrm>
            <a:off x="4810125" y="2762250"/>
            <a:ext cx="2571750" cy="1381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R2</a:t>
            </a:r>
          </a:p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E13B8C9D-F4C8-4271-B5CB-135C72815D42}"/>
              </a:ext>
            </a:extLst>
          </p:cNvPr>
          <p:cNvSpPr>
            <a:spLocks noGrp="1"/>
          </p:cNvSpPr>
          <p:nvPr/>
        </p:nvSpPr>
        <p:spPr>
          <a:xfrm>
            <a:off x="8572500" y="2762250"/>
            <a:ext cx="2571750" cy="1381125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R3</a:t>
            </a:r>
          </a:p>
          <a:p>
            <a:pPr algn="ctr">
              <a:def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7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E8A611A2-C7E7-45CE-9822-AF1B170254DB}"/>
              </a:ext>
            </a:extLst>
          </p:cNvPr>
          <p:cNvSpPr>
            <a:spLocks noGrp="1"/>
          </p:cNvSpPr>
          <p:nvPr/>
        </p:nvSpPr>
        <p:spPr>
          <a:xfrm>
            <a:off x="1714500" y="4381500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BC7F3DD7-4DA9-4998-9CFD-3B85B2B12C7D}"/>
              </a:ext>
            </a:extLst>
          </p:cNvPr>
          <p:cNvSpPr>
            <a:spLocks noGrp="1"/>
          </p:cNvSpPr>
          <p:nvPr/>
        </p:nvSpPr>
        <p:spPr>
          <a:xfrm>
            <a:off x="5524500" y="4381500"/>
            <a:ext cx="2095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E3B61881-C652-498D-A01C-B4ED9445BD85}"/>
              </a:ext>
            </a:extLst>
          </p:cNvPr>
          <p:cNvSpPr>
            <a:spLocks noGrp="1"/>
          </p:cNvSpPr>
          <p:nvPr/>
        </p:nvSpPr>
        <p:spPr>
          <a:xfrm>
            <a:off x="8953500" y="4381500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A9C83FE5-3E6C-4D03-95FC-DA4636725669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66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Exemplo de soma: R3 recebe R1 + R2.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43EB8935-F641-4423-BA57-67CD7ECE3BA3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Representação didática de registradores, não módulos de memória RAM.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xmlns="" id="{C372FD30-E5E4-4F17-BB9A-C6C7F86E3A1F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xmlns="" val="1148417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xmlns="" id="{C1E30FA4-F20F-48E9-8038-CE419A34A82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Registradores de controle</a:t>
            </a:r>
          </a:p>
        </p:txBody>
      </p:sp>
      <p:sp>
        <p:nvSpPr>
          <p:cNvPr id="3" name="PC-label">
            <a:extLst>
              <a:ext uri="{FF2B5EF4-FFF2-40B4-BE49-F238E27FC236}">
                <a16:creationId xmlns:a16="http://schemas.microsoft.com/office/drawing/2014/main" xmlns="" id="{6852AD16-BE60-4521-A873-65D496FAED2B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PC</a:t>
            </a:r>
          </a:p>
        </p:txBody>
      </p:sp>
      <p:sp>
        <p:nvSpPr>
          <p:cNvPr id="4" name="PC-desc">
            <a:extLst>
              <a:ext uri="{FF2B5EF4-FFF2-40B4-BE49-F238E27FC236}">
                <a16:creationId xmlns:a16="http://schemas.microsoft.com/office/drawing/2014/main" xmlns="" id="{006B9F50-0CF2-40A2-A402-3E7FB8C2F6FC}"/>
              </a:ext>
            </a:extLst>
          </p:cNvPr>
          <p:cNvSpPr>
            <a:spLocks noGrp="1"/>
          </p:cNvSpPr>
          <p:nvPr/>
        </p:nvSpPr>
        <p:spPr>
          <a:xfrm>
            <a:off x="4476750" y="16859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Contador de programa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Endereço da próxima instrução a buscar</a:t>
            </a:r>
          </a:p>
        </p:txBody>
      </p:sp>
      <p:sp>
        <p:nvSpPr>
          <p:cNvPr id="5" name="RI-label">
            <a:extLst>
              <a:ext uri="{FF2B5EF4-FFF2-40B4-BE49-F238E27FC236}">
                <a16:creationId xmlns:a16="http://schemas.microsoft.com/office/drawing/2014/main" xmlns="" id="{F418F54B-0C1E-4732-9281-D851E6C806CE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RI</a:t>
            </a:r>
          </a:p>
        </p:txBody>
      </p:sp>
      <p:sp>
        <p:nvSpPr>
          <p:cNvPr id="6" name="RI-desc">
            <a:extLst>
              <a:ext uri="{FF2B5EF4-FFF2-40B4-BE49-F238E27FC236}">
                <a16:creationId xmlns:a16="http://schemas.microsoft.com/office/drawing/2014/main" xmlns="" id="{A7742194-48BD-41C4-95B3-BAF0AB80287E}"/>
              </a:ext>
            </a:extLst>
          </p:cNvPr>
          <p:cNvSpPr>
            <a:spLocks noGrp="1"/>
          </p:cNvSpPr>
          <p:nvPr/>
        </p:nvSpPr>
        <p:spPr>
          <a:xfrm>
            <a:off x="4476750" y="3371850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Registrador de instrução</a:t>
            </a:r>
          </a:p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Instrução em processamento no modelo</a:t>
            </a:r>
          </a:p>
        </p:txBody>
      </p:sp>
      <p:sp>
        <p:nvSpPr>
          <p:cNvPr id="7" name="pc-example">
            <a:extLst>
              <a:ext uri="{FF2B5EF4-FFF2-40B4-BE49-F238E27FC236}">
                <a16:creationId xmlns:a16="http://schemas.microsoft.com/office/drawing/2014/main" xmlns="" id="{89C8F27D-F97C-4360-B55A-713D220B584E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Exemplo: PC = 100 indica um endereço de instrução.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C239133C-7406-439D-B623-6C1C4EBD4D65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xmlns="" val="59152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88C2FF3F-6A4D-4D66-92C3-5A9B82237C7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Unidade de Controle  coordenação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D65DC983-3E85-478B-83C5-8F3E96058FCB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Interpreta a instrução e gera sinais de controle.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xmlns="" id="{BFDC5FE1-B91F-49EF-A20B-454223FCA625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3095625" cy="1333500"/>
          </a:xfrm>
          <a:prstGeom prst="rect">
            <a:avLst/>
          </a:prstGeom>
          <a:solidFill>
            <a:srgbClr val="0D1726"/>
          </a:solidFill>
          <a:ln w="19050">
            <a:solidFill>
              <a:srgbClr val="78C7FF"/>
            </a:solidFill>
            <a:prstDash val="solid"/>
          </a:ln>
        </p:spPr>
        <p:txBody>
          <a:bodyPr anchor="ctr"/>
          <a:lstStyle>
            <a:def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RI</a:t>
            </a:r>
          </a:p>
          <a:p>
            <a:pPr algn="ctr">
              <a:def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defRPr>
            </a:pPr>
            <a:r>
              <a:rPr sz="2100">
                <a:solidFill>
                  <a:srgbClr val="78C7FF"/>
                </a:solidFill>
                <a:latin typeface="DejaVu Sans"/>
                <a:ea typeface="DejaVu Sans"/>
                <a:cs typeface="DejaVu Sans"/>
              </a:rPr>
              <a:t>ADD R3, R1, R2</a:t>
            </a:r>
          </a:p>
        </p:txBody>
      </p:sp>
      <p:sp>
        <p:nvSpPr>
          <p:cNvPr id="4" name="Seta para a direita 3">
            <a:extLst>
              <a:ext uri="{FF2B5EF4-FFF2-40B4-BE49-F238E27FC236}">
                <a16:creationId xmlns:a16="http://schemas.microsoft.com/office/drawing/2014/main" xmlns="" id="{8E826AA2-3FDE-47B3-A1E6-F9898F6EECBA}"/>
              </a:ext>
            </a:extLst>
          </p:cNvPr>
          <p:cNvSpPr>
            <a:spLocks noGrp="1"/>
          </p:cNvSpPr>
          <p:nvPr/>
        </p:nvSpPr>
        <p:spPr>
          <a:xfrm>
            <a:off x="3952875" y="3476625"/>
            <a:ext cx="857250" cy="266700"/>
          </a:xfrm>
          <a:prstGeom prst="right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B67ABB1A-039D-48C4-AC75-C549ABF7CE47}"/>
              </a:ext>
            </a:extLst>
          </p:cNvPr>
          <p:cNvSpPr>
            <a:spLocks noGrp="1"/>
          </p:cNvSpPr>
          <p:nvPr/>
        </p:nvSpPr>
        <p:spPr>
          <a:xfrm>
            <a:off x="5048250" y="2952750"/>
            <a:ext cx="2952750" cy="1333500"/>
          </a:xfrm>
          <a:prstGeom prst="rect">
            <a:avLst/>
          </a:prstGeom>
          <a:solidFill>
            <a:srgbClr val="0D1726"/>
          </a:solidFill>
          <a:ln w="19050">
            <a:solidFill>
              <a:srgbClr val="FFE08A"/>
            </a:solidFill>
            <a:prstDash val="solid"/>
          </a:ln>
        </p:spPr>
        <p:txBody>
          <a:bodyPr anchor="ctr"/>
          <a:lstStyle>
            <a:def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UNIDADE DE</a:t>
            </a:r>
          </a:p>
          <a:p>
            <a:pPr algn="ctr">
              <a:def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250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CONTROLE</a:t>
            </a:r>
          </a:p>
        </p:txBody>
      </p:sp>
      <p:sp>
        <p:nvSpPr>
          <p:cNvPr id="6" name="Seta para a direita 5">
            <a:extLst>
              <a:ext uri="{FF2B5EF4-FFF2-40B4-BE49-F238E27FC236}">
                <a16:creationId xmlns:a16="http://schemas.microsoft.com/office/drawing/2014/main" xmlns="" id="{74A5C01B-8F45-4E2D-8ECC-27E53B6E3F0A}"/>
              </a:ext>
            </a:extLst>
          </p:cNvPr>
          <p:cNvSpPr>
            <a:spLocks noGrp="1"/>
          </p:cNvSpPr>
          <p:nvPr/>
        </p:nvSpPr>
        <p:spPr>
          <a:xfrm>
            <a:off x="8191500" y="3476625"/>
            <a:ext cx="762000" cy="266700"/>
          </a:xfrm>
          <a:prstGeom prst="rightArrow">
            <a:avLst/>
          </a:prstGeom>
          <a:solidFill>
            <a:srgbClr val="FFE08A"/>
          </a:solidFill>
          <a:ln w="0">
            <a:noFill/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1890801F-35E7-4D00-902D-7395D4DE8646}"/>
              </a:ext>
            </a:extLst>
          </p:cNvPr>
          <p:cNvSpPr>
            <a:spLocks noGrp="1"/>
          </p:cNvSpPr>
          <p:nvPr/>
        </p:nvSpPr>
        <p:spPr>
          <a:xfrm>
            <a:off x="9191625" y="2857496"/>
            <a:ext cx="2571750" cy="219075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Selecionar R1 e R2</a:t>
            </a:r>
          </a:p>
          <a:p>
            <a:endParaRPr/>
          </a:p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Definir SOMA na ULA</a:t>
            </a:r>
          </a:p>
          <a:p>
            <a:endParaRPr/>
          </a:p>
          <a:p>
            <a:pPr>
              <a:def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Habilitar escrita em R3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D4E2B839-D416-4E03-BF09-4EB81503A00D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858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A ULA calcula. A UC coordena quando e como as ações ocorrem.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C1B8C131-B746-4890-8EA8-B4422F3B0E9D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xmlns="" val="141344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ing">
            <a:extLst>
              <a:ext uri="{FF2B5EF4-FFF2-40B4-BE49-F238E27FC236}">
                <a16:creationId xmlns:a16="http://schemas.microsoft.com/office/drawing/2014/main" xmlns="" id="{00E8891B-A82E-4F5C-B2D7-A0D5A889953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Ciclo de uma instrução</a:t>
            </a:r>
          </a:p>
        </p:txBody>
      </p:sp>
      <p:sp>
        <p:nvSpPr>
          <p:cNvPr id="3" name="1  BUSCA-label">
            <a:extLst>
              <a:ext uri="{FF2B5EF4-FFF2-40B4-BE49-F238E27FC236}">
                <a16:creationId xmlns:a16="http://schemas.microsoft.com/office/drawing/2014/main" xmlns="" id="{806BD815-6DEA-47E8-90CC-4CE20455277A}"/>
              </a:ext>
            </a:extLst>
          </p:cNvPr>
          <p:cNvSpPr>
            <a:spLocks noGrp="1"/>
          </p:cNvSpPr>
          <p:nvPr/>
        </p:nvSpPr>
        <p:spPr>
          <a:xfrm>
            <a:off x="609600" y="1495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1  BUSCA</a:t>
            </a:r>
          </a:p>
        </p:txBody>
      </p:sp>
      <p:sp>
        <p:nvSpPr>
          <p:cNvPr id="4" name="1  BUSCA-desc">
            <a:extLst>
              <a:ext uri="{FF2B5EF4-FFF2-40B4-BE49-F238E27FC236}">
                <a16:creationId xmlns:a16="http://schemas.microsoft.com/office/drawing/2014/main" xmlns="" id="{D20F153D-0C78-4A66-BDDD-298C9D9F383E}"/>
              </a:ext>
            </a:extLst>
          </p:cNvPr>
          <p:cNvSpPr>
            <a:spLocks noGrp="1"/>
          </p:cNvSpPr>
          <p:nvPr/>
        </p:nvSpPr>
        <p:spPr>
          <a:xfrm>
            <a:off x="4476750" y="1495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Obter a instrução no sistema de memória</a:t>
            </a:r>
          </a:p>
        </p:txBody>
      </p:sp>
      <p:sp>
        <p:nvSpPr>
          <p:cNvPr id="5" name="2  DECODIFICAÇÃO-label">
            <a:extLst>
              <a:ext uri="{FF2B5EF4-FFF2-40B4-BE49-F238E27FC236}">
                <a16:creationId xmlns:a16="http://schemas.microsoft.com/office/drawing/2014/main" xmlns="" id="{C4CB60E6-3447-45E4-883D-0BAD2F0B7EAA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2  DECODIFICAÇÃO</a:t>
            </a:r>
          </a:p>
        </p:txBody>
      </p:sp>
      <p:sp>
        <p:nvSpPr>
          <p:cNvPr id="6" name="2  DECODIFICAÇÃO-desc">
            <a:extLst>
              <a:ext uri="{FF2B5EF4-FFF2-40B4-BE49-F238E27FC236}">
                <a16:creationId xmlns:a16="http://schemas.microsoft.com/office/drawing/2014/main" xmlns="" id="{EF141FF8-3312-4D00-9A0F-440C689DBF6A}"/>
              </a:ext>
            </a:extLst>
          </p:cNvPr>
          <p:cNvSpPr>
            <a:spLocks noGrp="1"/>
          </p:cNvSpPr>
          <p:nvPr/>
        </p:nvSpPr>
        <p:spPr>
          <a:xfrm>
            <a:off x="4476750" y="2638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Identificar a operação e seus operandos</a:t>
            </a:r>
          </a:p>
        </p:txBody>
      </p:sp>
      <p:sp>
        <p:nvSpPr>
          <p:cNvPr id="7" name="3  EXECUÇÃO-label">
            <a:extLst>
              <a:ext uri="{FF2B5EF4-FFF2-40B4-BE49-F238E27FC236}">
                <a16:creationId xmlns:a16="http://schemas.microsoft.com/office/drawing/2014/main" xmlns="" id="{EF9BCF93-C0E8-4A95-A1C2-8C1A2B89D283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3  EXECUÇÃO</a:t>
            </a:r>
          </a:p>
        </p:txBody>
      </p:sp>
      <p:sp>
        <p:nvSpPr>
          <p:cNvPr id="8" name="3  EXECUÇÃO-desc">
            <a:extLst>
              <a:ext uri="{FF2B5EF4-FFF2-40B4-BE49-F238E27FC236}">
                <a16:creationId xmlns:a16="http://schemas.microsoft.com/office/drawing/2014/main" xmlns="" id="{4E2F2EE0-E008-44A1-AEB1-2EF961ED1449}"/>
              </a:ext>
            </a:extLst>
          </p:cNvPr>
          <p:cNvSpPr>
            <a:spLocks noGrp="1"/>
          </p:cNvSpPr>
          <p:nvPr/>
        </p:nvSpPr>
        <p:spPr>
          <a:xfrm>
            <a:off x="4476750" y="3781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Realizar a operação na ULA</a:t>
            </a:r>
          </a:p>
        </p:txBody>
      </p:sp>
      <p:sp>
        <p:nvSpPr>
          <p:cNvPr id="9" name="4  GRAVAÇÃO-label">
            <a:extLst>
              <a:ext uri="{FF2B5EF4-FFF2-40B4-BE49-F238E27FC236}">
                <a16:creationId xmlns:a16="http://schemas.microsoft.com/office/drawing/2014/main" xmlns="" id="{D8F4BD53-EE90-4295-9B9B-3A7690E0364E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3524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4  GRAVAÇÃO</a:t>
            </a:r>
          </a:p>
        </p:txBody>
      </p:sp>
      <p:sp>
        <p:nvSpPr>
          <p:cNvPr id="10" name="4  GRAVAÇÃO-desc">
            <a:extLst>
              <a:ext uri="{FF2B5EF4-FFF2-40B4-BE49-F238E27FC236}">
                <a16:creationId xmlns:a16="http://schemas.microsoft.com/office/drawing/2014/main" xmlns="" id="{29CE3770-7B77-4569-8E81-6CD22D459B13}"/>
              </a:ext>
            </a:extLst>
          </p:cNvPr>
          <p:cNvSpPr>
            <a:spLocks noGrp="1"/>
          </p:cNvSpPr>
          <p:nvPr/>
        </p:nvSpPr>
        <p:spPr>
          <a:xfrm>
            <a:off x="4476750" y="4924425"/>
            <a:ext cx="704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Registrar o resultado no destino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xmlns="" id="{74ADECE6-4E4D-418A-B707-68FF58706F26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xmlns="" val="147504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:a16="http://schemas.microsoft.com/office/drawing/2014/main" xmlns="" id="{DBBD2F09-5B43-4774-BFE2-EDC83B49558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Exemplo didático: uma instrução de soma</a:t>
            </a:r>
          </a:p>
        </p:txBody>
      </p:sp>
      <p:sp>
        <p:nvSpPr>
          <p:cNvPr id="3" name="code">
            <a:extLst>
              <a:ext uri="{FF2B5EF4-FFF2-40B4-BE49-F238E27FC236}">
                <a16:creationId xmlns:a16="http://schemas.microsoft.com/office/drawing/2014/main" xmlns="" id="{46205AF4-722C-4FE8-A5FB-67A05EA34C13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95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buNone/>
              <a:def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500" b="0">
                <a:solidFill>
                  <a:srgbClr val="FFE08A"/>
                </a:solidFill>
                <a:latin typeface="DejaVu Sans Mono"/>
                <a:ea typeface="DejaVu Sans Mono"/>
                <a:cs typeface="DejaVu Sans Mono"/>
              </a:rPr>
              <a:t>ADD R3, R1, R2</a:t>
            </a:r>
          </a:p>
        </p:txBody>
      </p:sp>
      <p:sp>
        <p:nvSpPr>
          <p:cNvPr id="4" name="meaning">
            <a:extLst>
              <a:ext uri="{FF2B5EF4-FFF2-40B4-BE49-F238E27FC236}">
                <a16:creationId xmlns:a16="http://schemas.microsoft.com/office/drawing/2014/main" xmlns="" id="{799F3210-D26D-41AB-B074-DF9CF4743DB8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Significado: R3 recebe R1 + R2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xmlns="" id="{59BEBDD4-DBCD-4873-8C18-0D8256246A06}"/>
              </a:ext>
            </a:extLst>
          </p:cNvPr>
          <p:cNvGraphicFramePr/>
          <p:nvPr/>
        </p:nvGraphicFramePr>
        <p:xfrm>
          <a:off x="609600" y="4038600"/>
          <a:ext cx="10858500" cy="1190626"/>
        </p:xfrm>
        <a:graphic>
          <a:graphicData uri="http://schemas.openxmlformats.org/drawingml/2006/table">
            <a:tbl>
              <a:tblPr/>
              <a:tblGrid>
                <a:gridCol w="2714625"/>
                <a:gridCol w="2714625"/>
                <a:gridCol w="2714625"/>
                <a:gridCol w="2714625"/>
              </a:tblGrid>
              <a:tr h="5953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assumption">
            <a:extLst>
              <a:ext uri="{FF2B5EF4-FFF2-40B4-BE49-F238E27FC236}">
                <a16:creationId xmlns:a16="http://schemas.microsoft.com/office/drawing/2014/main" xmlns="" id="{C1ADC514-10D5-47DB-8AD7-881163742F02}"/>
              </a:ext>
            </a:extLst>
          </p:cNvPr>
          <p:cNvSpPr>
            <a:spLocks noGrp="1"/>
          </p:cNvSpPr>
          <p:nvPr/>
        </p:nvSpPr>
        <p:spPr>
          <a:xfrm>
            <a:off x="609600" y="5686425"/>
            <a:ext cx="10858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Modelo fictício: destino primeiro e uma posição por instrução.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9D0B39F0-DA81-4762-935D-F80ABA388A42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xmlns="" val="1799019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ing">
            <a:extLst>
              <a:ext uri="{FF2B5EF4-FFF2-40B4-BE49-F238E27FC236}">
                <a16:creationId xmlns:a16="http://schemas.microsoft.com/office/drawing/2014/main" xmlns="" id="{B667956B-B98C-44A8-B5C5-55DEC0C060F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Busca e decodificação da soma</a:t>
            </a:r>
          </a:p>
        </p:txBody>
      </p:sp>
      <p:sp>
        <p:nvSpPr>
          <p:cNvPr id="3" name="fetch">
            <a:extLst>
              <a:ext uri="{FF2B5EF4-FFF2-40B4-BE49-F238E27FC236}">
                <a16:creationId xmlns:a16="http://schemas.microsoft.com/office/drawing/2014/main" xmlns="" id="{618568FF-33D8-4C2C-91D0-67B1FBF80A6C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5143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BUSCA</a:t>
            </a:r>
          </a:p>
        </p:txBody>
      </p:sp>
      <p:sp>
        <p:nvSpPr>
          <p:cNvPr id="4" name="code">
            <a:extLst>
              <a:ext uri="{FF2B5EF4-FFF2-40B4-BE49-F238E27FC236}">
                <a16:creationId xmlns:a16="http://schemas.microsoft.com/office/drawing/2014/main" xmlns="" id="{55890108-C7D7-4BAD-89CD-10A26BF46B85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7143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defPPr>
            <a:lvl1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1pPr>
            <a:lvl2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2pPr>
            <a:lvl3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3pPr>
            <a:lvl4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4pPr>
            <a:lvl5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5pPr>
            <a:lvl6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6pPr>
            <a:lvl7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7pPr>
            <a:lvl8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8pPr>
            <a:lvl9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lvl9pPr>
          </a:lstStyle>
          <a:p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inicial = 100</a:t>
            </a:r>
          </a:p>
          <a:p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RI = ADD R3, R1, R2</a:t>
            </a:r>
          </a:p>
          <a:p>
            <a:pPr>
              <a:buNone/>
              <a:def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0">
                <a:solidFill>
                  <a:srgbClr val="F7FAFF"/>
                </a:solidFill>
                <a:latin typeface="DejaVu Sans Mono"/>
                <a:ea typeface="DejaVu Sans Mono"/>
                <a:cs typeface="DejaVu Sans Mono"/>
              </a:rPr>
              <a:t>PC após a busca = 101</a:t>
            </a:r>
          </a:p>
        </p:txBody>
      </p:sp>
      <p:sp>
        <p:nvSpPr>
          <p:cNvPr id="5" name="decode">
            <a:extLst>
              <a:ext uri="{FF2B5EF4-FFF2-40B4-BE49-F238E27FC236}">
                <a16:creationId xmlns:a16="http://schemas.microsoft.com/office/drawing/2014/main" xmlns="" id="{31B43BAB-E8A6-4BC8-BC97-6E48E7282528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095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E08A"/>
                </a:solidFill>
                <a:latin typeface="DejaVu Sans"/>
                <a:ea typeface="DejaVu Sans"/>
                <a:cs typeface="DejaVu Sans"/>
              </a:rPr>
              <a:t>DECODIFICAÇÃO PELA UC</a:t>
            </a:r>
          </a:p>
        </p:txBody>
      </p:sp>
      <p:sp>
        <p:nvSpPr>
          <p:cNvPr id="6" name="decoded">
            <a:extLst>
              <a:ext uri="{FF2B5EF4-FFF2-40B4-BE49-F238E27FC236}">
                <a16:creationId xmlns:a16="http://schemas.microsoft.com/office/drawing/2014/main" xmlns="" id="{5481C210-2582-4A67-9926-42AE56EA3073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1095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Operação: somar     Origens: R1 e R2     Destino: R3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317BCAFF-6F21-4E32-8B5F-F3612F8ABF47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xmlns="" val="1048241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xmlns="" id="{44569933-C6BB-4336-93C4-D1B85F633B6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Execução e gravação do resultado</a:t>
            </a:r>
          </a:p>
        </p:txBody>
      </p:sp>
      <p:sp>
        <p:nvSpPr>
          <p:cNvPr id="3" name="calc">
            <a:extLst>
              <a:ext uri="{FF2B5EF4-FFF2-40B4-BE49-F238E27FC236}">
                <a16:creationId xmlns:a16="http://schemas.microsoft.com/office/drawing/2014/main" xmlns="" id="{08B30833-EC9C-45B2-BF04-4105CAC262BA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2286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AC83"/>
                </a:solidFill>
                <a:latin typeface="DejaVu Sans"/>
                <a:ea typeface="DejaVu Sans"/>
                <a:cs typeface="DejaVu Sans"/>
              </a:rPr>
              <a:t>ULA</a:t>
            </a:r>
          </a:p>
        </p:txBody>
      </p:sp>
      <p:sp>
        <p:nvSpPr>
          <p:cNvPr id="4" name="operation">
            <a:extLst>
              <a:ext uri="{FF2B5EF4-FFF2-40B4-BE49-F238E27FC236}">
                <a16:creationId xmlns:a16="http://schemas.microsoft.com/office/drawing/2014/main" xmlns="" id="{370911D7-C4E5-4E83-BF87-2591644C1A6E}"/>
              </a:ext>
            </a:extLst>
          </p:cNvPr>
          <p:cNvSpPr>
            <a:spLocks noGrp="1"/>
          </p:cNvSpPr>
          <p:nvPr/>
        </p:nvSpPr>
        <p:spPr>
          <a:xfrm>
            <a:off x="609600" y="2190750"/>
            <a:ext cx="10858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>
                <a:solidFill>
                  <a:srgbClr val="F7FAFF"/>
                </a:solidFill>
                <a:latin typeface="DejaVu Sans"/>
                <a:ea typeface="DejaVu Sans"/>
                <a:cs typeface="DejaVu Sans"/>
              </a:rPr>
              <a:t>5 + 3 = 8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xmlns="" id="{DE90579D-1D11-4909-824A-591ABE5D8E98}"/>
              </a:ext>
            </a:extLst>
          </p:cNvPr>
          <p:cNvGraphicFramePr/>
          <p:nvPr/>
        </p:nvGraphicFramePr>
        <p:xfrm>
          <a:off x="609600" y="3714750"/>
          <a:ext cx="10858500" cy="1238250"/>
        </p:xfrm>
        <a:graphic>
          <a:graphicData uri="http://schemas.openxmlformats.org/drawingml/2006/table">
            <a:tbl>
              <a:tblPr/>
              <a:tblGrid>
                <a:gridCol w="3238500"/>
                <a:gridCol w="1905000"/>
                <a:gridCol w="1905000"/>
                <a:gridCol w="1905000"/>
                <a:gridCol w="19050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Estado final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>
                      <a:solidFill>
                        <a:srgbClr val="456079"/>
                      </a:solidFill>
                      <a:prstDash val="soli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23385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Após a soma</a:t>
                      </a:r>
                    </a:p>
                  </a:txBody>
                  <a:tcPr anchor="ctr">
                    <a:lnL w="9525">
                      <a:solidFill>
                        <a:srgbClr val="456079"/>
                      </a:solidFill>
                      <a:prstDash val="soli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7FA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456079"/>
                      </a:solidFill>
                      <a:prstDash val="solid"/>
                    </a:lnR>
                    <a:lnT w="9525" cap="flat" cmpd="sng" algn="ctr">
                      <a:solidFill>
                        <a:srgbClr val="4560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456079"/>
                      </a:solidFill>
                      <a:prstDash val="solid"/>
                    </a:lnB>
                    <a:solidFill>
                      <a:srgbClr val="122238"/>
                    </a:solidFill>
                  </a:tcPr>
                </a:tc>
              </a:tr>
            </a:tbl>
          </a:graphicData>
        </a:graphic>
      </p:graphicFrame>
      <p:sp>
        <p:nvSpPr>
          <p:cNvPr id="6" name="write">
            <a:extLst>
              <a:ext uri="{FF2B5EF4-FFF2-40B4-BE49-F238E27FC236}">
                <a16:creationId xmlns:a16="http://schemas.microsoft.com/office/drawing/2014/main" xmlns="" id="{D774996B-E26B-4110-A5A4-9B0D13545055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858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78C5FF"/>
                </a:solidFill>
                <a:latin typeface="DejaVu Sans"/>
                <a:ea typeface="DejaVu Sans"/>
                <a:cs typeface="DejaVu Sans"/>
              </a:rPr>
              <a:t>A UC coordena a escrita de 8 no registrador R3.</a:t>
            </a:r>
          </a:p>
        </p:txBody>
      </p:sp>
      <p:sp>
        <p:nvSpPr>
          <p:cNvPr id="7" name="ram">
            <a:extLst>
              <a:ext uri="{FF2B5EF4-FFF2-40B4-BE49-F238E27FC236}">
                <a16:creationId xmlns:a16="http://schemas.microsoft.com/office/drawing/2014/main" xmlns="" id="{F52AFB55-9FBA-473B-81A0-96B70CDBC98A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10858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>
            <a:noAutofit/>
          </a:bodyPr>
          <a:lstStyle>
            <a:defPPr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defPPr>
            <a:lvl1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1pPr>
            <a:lvl2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2pPr>
            <a:lvl3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3pPr>
            <a:lvl4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4pPr>
            <a:lvl5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5pPr>
            <a:lvl6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6pPr>
            <a:lvl7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7pPr>
            <a:lvl8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8pPr>
            <a:lvl9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buNone/>
              <a:def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7C5D9"/>
                </a:solidFill>
                <a:latin typeface="DejaVu Sans"/>
                <a:ea typeface="DejaVu Sans"/>
                <a:cs typeface="DejaVu Sans"/>
              </a:rPr>
              <a:t>Neste exemplo, o resultado permanece em R3.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DCB9840E-16EA-44CA-9FC2-3B88449D7E42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xmlns="" val="1009439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xmlns="" id="{8C77C768-39AC-4369-B25B-2AE0ABF99FE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000" b="1">
                <a:solidFill>
                  <a:srgbClr val="F5F7FF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smtClean="0">
                <a:solidFill>
                  <a:srgbClr val="F5F7FF"/>
                </a:solidFill>
                <a:latin typeface="DejaVu Sans"/>
                <a:ea typeface="DejaVu Sans"/>
                <a:cs typeface="DejaVu Sans"/>
              </a:rPr>
              <a:t>Referências</a:t>
            </a:r>
            <a:endParaRPr sz="3000" b="1">
              <a:solidFill>
                <a:srgbClr val="F5F7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xmlns="" id="{1D86915E-C494-4A52-9C86-DCEEE0629F49}"/>
              </a:ext>
            </a:extLst>
          </p:cNvPr>
          <p:cNvSpPr>
            <a:spLocks noGrp="1"/>
          </p:cNvSpPr>
          <p:nvPr/>
        </p:nvSpPr>
        <p:spPr>
          <a:xfrm>
            <a:off x="10953750" y="63341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8C5D8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95274" y="1357298"/>
            <a:ext cx="1014419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</a:rPr>
              <a:t>STALLINGS, William. </a:t>
            </a:r>
            <a:r>
              <a:rPr lang="pt-BR" sz="2400" b="1" dirty="0" smtClean="0">
                <a:solidFill>
                  <a:schemeClr val="bg1"/>
                </a:solidFill>
              </a:rPr>
              <a:t>Arquitetura e organização de computadores</a:t>
            </a:r>
            <a:r>
              <a:rPr lang="pt-BR" sz="2400" dirty="0" smtClean="0">
                <a:solidFill>
                  <a:schemeClr val="bg1"/>
                </a:solidFill>
              </a:rPr>
              <a:t>. 10. ed. São Paulo: Pearson </a:t>
            </a:r>
            <a:r>
              <a:rPr lang="pt-BR" sz="2400" dirty="0" err="1" smtClean="0">
                <a:solidFill>
                  <a:schemeClr val="bg1"/>
                </a:solidFill>
              </a:rPr>
              <a:t>Education</a:t>
            </a:r>
            <a:r>
              <a:rPr lang="pt-BR" sz="2400" dirty="0" smtClean="0">
                <a:solidFill>
                  <a:schemeClr val="bg1"/>
                </a:solidFill>
              </a:rPr>
              <a:t> do Brasil, 2017. </a:t>
            </a:r>
            <a:r>
              <a:rPr lang="pt-BR" sz="2400" dirty="0" smtClean="0">
                <a:solidFill>
                  <a:schemeClr val="bg1"/>
                </a:solidFill>
                <a:hlinkClick r:id="rId3"/>
              </a:rPr>
              <a:t>Pearson</a:t>
            </a:r>
            <a:endParaRPr lang="pt-BR" sz="24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</a:rPr>
              <a:t>TANENBAUM, Andrew S.; AUSTIN, Todd. </a:t>
            </a:r>
            <a:r>
              <a:rPr lang="pt-BR" sz="2400" b="1" dirty="0" smtClean="0">
                <a:solidFill>
                  <a:schemeClr val="bg1"/>
                </a:solidFill>
              </a:rPr>
              <a:t>Organização estruturada de computadores</a:t>
            </a:r>
            <a:r>
              <a:rPr lang="pt-BR" sz="2400" dirty="0" smtClean="0">
                <a:solidFill>
                  <a:schemeClr val="bg1"/>
                </a:solidFill>
              </a:rPr>
              <a:t>. 6. ed. São Paulo: Pearson </a:t>
            </a:r>
            <a:r>
              <a:rPr lang="pt-BR" sz="2400" dirty="0" err="1" smtClean="0">
                <a:solidFill>
                  <a:schemeClr val="bg1"/>
                </a:solidFill>
              </a:rPr>
              <a:t>Prentice</a:t>
            </a:r>
            <a:r>
              <a:rPr lang="pt-BR" sz="2400" dirty="0" smtClean="0">
                <a:solidFill>
                  <a:schemeClr val="bg1"/>
                </a:solidFill>
              </a:rPr>
              <a:t> Hall, 2013. </a:t>
            </a:r>
            <a:r>
              <a:rPr lang="pt-BR" sz="2400" dirty="0" smtClean="0">
                <a:solidFill>
                  <a:schemeClr val="bg1"/>
                </a:solidFill>
                <a:hlinkClick r:id="rId4"/>
              </a:rPr>
              <a:t>biblioteca.ifrj.edu.</a:t>
            </a:r>
            <a:r>
              <a:rPr lang="pt-BR" sz="2400" dirty="0" err="1" smtClean="0">
                <a:solidFill>
                  <a:schemeClr val="bg1"/>
                </a:solidFill>
                <a:hlinkClick r:id="rId4"/>
              </a:rPr>
              <a:t>br</a:t>
            </a:r>
            <a:endParaRPr lang="pt-BR" sz="2400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2400" dirty="0" smtClean="0">
                <a:solidFill>
                  <a:schemeClr val="bg1"/>
                </a:solidFill>
              </a:rPr>
              <a:t>MASSACHUSETTS INSTITUTE OF TECHNOLOGY. </a:t>
            </a:r>
            <a:r>
              <a:rPr lang="pt-BR" sz="2400" b="1" dirty="0" smtClean="0">
                <a:solidFill>
                  <a:schemeClr val="bg1"/>
                </a:solidFill>
              </a:rPr>
              <a:t>MPU</a:t>
            </a:r>
            <a:r>
              <a:rPr lang="pt-BR" sz="2400" dirty="0" smtClean="0">
                <a:solidFill>
                  <a:schemeClr val="bg1"/>
                </a:solidFill>
              </a:rPr>
              <a:t>. MAS.865: </a:t>
            </a:r>
            <a:r>
              <a:rPr lang="pt-BR" sz="2400" dirty="0" err="1" smtClean="0">
                <a:solidFill>
                  <a:schemeClr val="bg1"/>
                </a:solidFill>
              </a:rPr>
              <a:t>How</a:t>
            </a:r>
            <a:r>
              <a:rPr lang="pt-BR" sz="2400" dirty="0" smtClean="0">
                <a:solidFill>
                  <a:schemeClr val="bg1"/>
                </a:solidFill>
              </a:rPr>
              <a:t> to </a:t>
            </a:r>
            <a:r>
              <a:rPr lang="pt-BR" sz="2400" dirty="0" err="1" smtClean="0">
                <a:solidFill>
                  <a:schemeClr val="bg1"/>
                </a:solidFill>
              </a:rPr>
              <a:t>Make</a:t>
            </a:r>
            <a:r>
              <a:rPr lang="pt-BR" sz="2400" dirty="0" smtClean="0">
                <a:solidFill>
                  <a:schemeClr val="bg1"/>
                </a:solidFill>
              </a:rPr>
              <a:t> </a:t>
            </a:r>
            <a:r>
              <a:rPr lang="pt-BR" sz="2400" dirty="0" err="1" smtClean="0">
                <a:solidFill>
                  <a:schemeClr val="bg1"/>
                </a:solidFill>
              </a:rPr>
              <a:t>Something</a:t>
            </a:r>
            <a:r>
              <a:rPr lang="pt-BR" sz="2400" dirty="0" smtClean="0">
                <a:solidFill>
                  <a:schemeClr val="bg1"/>
                </a:solidFill>
              </a:rPr>
              <a:t> </a:t>
            </a:r>
            <a:r>
              <a:rPr lang="pt-BR" sz="2400" dirty="0" err="1" smtClean="0">
                <a:solidFill>
                  <a:schemeClr val="bg1"/>
                </a:solidFill>
              </a:rPr>
              <a:t>that</a:t>
            </a:r>
            <a:r>
              <a:rPr lang="pt-BR" sz="2400" dirty="0" smtClean="0">
                <a:solidFill>
                  <a:schemeClr val="bg1"/>
                </a:solidFill>
              </a:rPr>
              <a:t> </a:t>
            </a:r>
            <a:r>
              <a:rPr lang="pt-BR" sz="2400" dirty="0" err="1" smtClean="0">
                <a:solidFill>
                  <a:schemeClr val="bg1"/>
                </a:solidFill>
              </a:rPr>
              <a:t>Makes</a:t>
            </a:r>
            <a:r>
              <a:rPr lang="pt-BR" sz="2400" dirty="0" smtClean="0">
                <a:solidFill>
                  <a:schemeClr val="bg1"/>
                </a:solidFill>
              </a:rPr>
              <a:t> (</a:t>
            </a:r>
            <a:r>
              <a:rPr lang="pt-BR" sz="2400" dirty="0" err="1" smtClean="0">
                <a:solidFill>
                  <a:schemeClr val="bg1"/>
                </a:solidFill>
              </a:rPr>
              <a:t>almost</a:t>
            </a:r>
            <a:r>
              <a:rPr lang="pt-BR" sz="2400" dirty="0" smtClean="0">
                <a:solidFill>
                  <a:schemeClr val="bg1"/>
                </a:solidFill>
              </a:rPr>
              <a:t>) </a:t>
            </a:r>
            <a:r>
              <a:rPr lang="pt-BR" sz="2400" dirty="0" err="1" smtClean="0">
                <a:solidFill>
                  <a:schemeClr val="bg1"/>
                </a:solidFill>
              </a:rPr>
              <a:t>Anything</a:t>
            </a:r>
            <a:r>
              <a:rPr lang="pt-BR" sz="2400" dirty="0" smtClean="0">
                <a:solidFill>
                  <a:schemeClr val="bg1"/>
                </a:solidFill>
              </a:rPr>
              <a:t>, 2018. Disponível em: </a:t>
            </a:r>
            <a:r>
              <a:rPr lang="pt-BR" sz="2400" dirty="0" smtClean="0">
                <a:solidFill>
                  <a:schemeClr val="bg1"/>
                </a:solidFill>
                <a:hlinkClick r:id="rId5"/>
              </a:rPr>
              <a:t>https://fab.cba.mit.edu/classes/865.18/computing/mpu/</a:t>
            </a:r>
            <a:r>
              <a:rPr lang="pt-BR" sz="2400" dirty="0" smtClean="0">
                <a:solidFill>
                  <a:schemeClr val="bg1"/>
                </a:solidFill>
              </a:rPr>
              <a:t>. Acesso em: 22 out</a:t>
            </a:r>
            <a:r>
              <a:rPr lang="pt-BR" dirty="0" smtClean="0"/>
              <a:t>. </a:t>
            </a:r>
            <a:r>
              <a:rPr lang="pt-BR" sz="2400" dirty="0" smtClean="0">
                <a:solidFill>
                  <a:schemeClr val="bg1"/>
                </a:solidFill>
              </a:rPr>
              <a:t>2026. 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78490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1750</Words>
  <Application>Walnut Exporter</Application>
  <DocSecurity>0</DocSecurity>
  <PresentationFormat>Personalizar</PresentationFormat>
  <Paragraphs>186</Paragraphs>
  <Slides>14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ChatGPT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Giulianie Aparecida Machado</cp:lastModifiedBy>
  <cp:revision>2</cp:revision>
  <dcterms:created xsi:type="dcterms:W3CDTF">2026-10-22T21:09:02Z</dcterms:created>
  <dcterms:modified xsi:type="dcterms:W3CDTF">2026-10-22T21:47:02Z</dcterms:modified>
</cp:coreProperties>
</file>
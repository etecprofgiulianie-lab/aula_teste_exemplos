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41d4955e0146c5" /><Relationship Type="http://schemas.openxmlformats.org/officeDocument/2006/relationships/extended-properties" Target="/docProps/app.xml" Id="R55020deb05114be9" /><Relationship Type="http://schemas.openxmlformats.org/officeDocument/2006/relationships/officeDocument" Target="/ppt/presentation.xml" Id="R69231fa5b3be4d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1336b26e8f4fad"/>
  </p:sldMasterIdLst>
  <p:notesMasterIdLst>
    <p:notesMasterId xmlns:r="http://schemas.openxmlformats.org/officeDocument/2006/relationships" r:id="Ra8cf370b8c244124"/>
  </p:notesMasterIdLst>
  <p:sldIdLst>
    <p:sldId xmlns:r="http://schemas.openxmlformats.org/officeDocument/2006/relationships" id="256" r:id="Ra4d1ffba27ac4bee"/>
    <p:sldId xmlns:r="http://schemas.openxmlformats.org/officeDocument/2006/relationships" id="257" r:id="R7105556637074327"/>
    <p:sldId xmlns:r="http://schemas.openxmlformats.org/officeDocument/2006/relationships" id="258" r:id="Rb39486e17ada4dc5"/>
    <p:sldId xmlns:r="http://schemas.openxmlformats.org/officeDocument/2006/relationships" id="259" r:id="Rf5ca4ff9228e4ef0"/>
    <p:sldId xmlns:r="http://schemas.openxmlformats.org/officeDocument/2006/relationships" id="260" r:id="Ra181fa682fc74e38"/>
    <p:sldId xmlns:r="http://schemas.openxmlformats.org/officeDocument/2006/relationships" id="261" r:id="R13d12a9df28349e4"/>
    <p:sldId xmlns:r="http://schemas.openxmlformats.org/officeDocument/2006/relationships" id="262" r:id="R06cbd9aeb96f4079"/>
    <p:sldId xmlns:r="http://schemas.openxmlformats.org/officeDocument/2006/relationships" id="263" r:id="Ref014a526c1044b4"/>
    <p:sldId xmlns:r="http://schemas.openxmlformats.org/officeDocument/2006/relationships" id="264" r:id="Rfa6e8c2c9ec34c08"/>
    <p:sldId xmlns:r="http://schemas.openxmlformats.org/officeDocument/2006/relationships" id="265" r:id="R0227dd8575d34089"/>
    <p:sldId xmlns:r="http://schemas.openxmlformats.org/officeDocument/2006/relationships" id="266" r:id="Rdddb5713f0274729"/>
    <p:sldId xmlns:r="http://schemas.openxmlformats.org/officeDocument/2006/relationships" id="267" r:id="R1c55a69620d84481"/>
    <p:sldId xmlns:r="http://schemas.openxmlformats.org/officeDocument/2006/relationships" id="268" r:id="R9ecfea20340d4e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7a800f9a7f40f3" /><Relationship Type="http://schemas.openxmlformats.org/officeDocument/2006/relationships/slideMaster" Target="/ppt/slideMasters/slideMaster1.xml" Id="R861336b26e8f4fad" /><Relationship Type="http://schemas.openxmlformats.org/officeDocument/2006/relationships/notesMaster" Target="/ppt/notesMasters/notesMaster1.xml" Id="Ra8cf370b8c244124" /><Relationship Type="http://schemas.openxmlformats.org/officeDocument/2006/relationships/presProps" Target="/ppt/presProps.xml" Id="R213f3f8a6f424dc2" /><Relationship Type="http://schemas.openxmlformats.org/officeDocument/2006/relationships/tableStyles" Target="/ppt/tableStyles.xml" Id="R3f110371239c4377" /><Relationship Type="http://schemas.openxmlformats.org/officeDocument/2006/relationships/slide" Target="/ppt/slides/slide1.xml" Id="Ra4d1ffba27ac4bee" /><Relationship Type="http://schemas.openxmlformats.org/officeDocument/2006/relationships/slide" Target="/ppt/slides/slide2.xml" Id="R7105556637074327" /><Relationship Type="http://schemas.openxmlformats.org/officeDocument/2006/relationships/slide" Target="/ppt/slides/slide3.xml" Id="Rb39486e17ada4dc5" /><Relationship Type="http://schemas.openxmlformats.org/officeDocument/2006/relationships/slide" Target="/ppt/slides/slide4.xml" Id="Rf5ca4ff9228e4ef0" /><Relationship Type="http://schemas.openxmlformats.org/officeDocument/2006/relationships/slide" Target="/ppt/slides/slide5.xml" Id="Ra181fa682fc74e38" /><Relationship Type="http://schemas.openxmlformats.org/officeDocument/2006/relationships/slide" Target="/ppt/slides/slide6.xml" Id="R13d12a9df28349e4" /><Relationship Type="http://schemas.openxmlformats.org/officeDocument/2006/relationships/slide" Target="/ppt/slides/slide7.xml" Id="R06cbd9aeb96f4079" /><Relationship Type="http://schemas.openxmlformats.org/officeDocument/2006/relationships/slide" Target="/ppt/slides/slide8.xml" Id="Ref014a526c1044b4" /><Relationship Type="http://schemas.openxmlformats.org/officeDocument/2006/relationships/slide" Target="/ppt/slides/slide9.xml" Id="Rfa6e8c2c9ec34c08" /><Relationship Type="http://schemas.openxmlformats.org/officeDocument/2006/relationships/slide" Target="/ppt/slides/slide10.xml" Id="R0227dd8575d34089" /><Relationship Type="http://schemas.openxmlformats.org/officeDocument/2006/relationships/slide" Target="/ppt/slides/slide11.xml" Id="Rdddb5713f0274729" /><Relationship Type="http://schemas.openxmlformats.org/officeDocument/2006/relationships/slide" Target="/ppt/slides/slide12.xml" Id="R1c55a69620d84481" /><Relationship Type="http://schemas.openxmlformats.org/officeDocument/2006/relationships/slide" Target="/ppt/slides/slide13.xml" Id="R9ecfea20340d4e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3bb256db2541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2a05da05644115" /><Relationship Type="http://schemas.openxmlformats.org/officeDocument/2006/relationships/notesMaster" Target="/ppt/notesMasters/notesMaster1.xml" Id="R5d89e61c3be140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4e1226baea4465" /><Relationship Type="http://schemas.openxmlformats.org/officeDocument/2006/relationships/notesMaster" Target="/ppt/notesMasters/notesMaster1.xml" Id="R932f904386fc40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b67b94d6dc4924" /><Relationship Type="http://schemas.openxmlformats.org/officeDocument/2006/relationships/notesMaster" Target="/ppt/notesMasters/notesMaster1.xml" Id="Raeb448bba9cd45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a01e28fbc04ff0" /><Relationship Type="http://schemas.openxmlformats.org/officeDocument/2006/relationships/notesMaster" Target="/ppt/notesMasters/notesMaster1.xml" Id="Rfb1e8779fa5341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71bfd625174851" /><Relationship Type="http://schemas.openxmlformats.org/officeDocument/2006/relationships/notesMaster" Target="/ppt/notesMasters/notesMaster1.xml" Id="Ra013e09ccad64f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3f8dae72214632" /><Relationship Type="http://schemas.openxmlformats.org/officeDocument/2006/relationships/notesMaster" Target="/ppt/notesMasters/notesMaster1.xml" Id="Rd4fc102729e944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2718751c22436e" /><Relationship Type="http://schemas.openxmlformats.org/officeDocument/2006/relationships/notesMaster" Target="/ppt/notesMasters/notesMaster1.xml" Id="Re62a4953efa949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57d9fd206245bc" /><Relationship Type="http://schemas.openxmlformats.org/officeDocument/2006/relationships/notesMaster" Target="/ppt/notesMasters/notesMaster1.xml" Id="Rb8c84e12f4b143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39b275b2db4243" /><Relationship Type="http://schemas.openxmlformats.org/officeDocument/2006/relationships/notesMaster" Target="/ppt/notesMasters/notesMaster1.xml" Id="Rcee2d4d6804242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1f6f47831f413f" /><Relationship Type="http://schemas.openxmlformats.org/officeDocument/2006/relationships/notesMaster" Target="/ppt/notesMasters/notesMaster1.xml" Id="R9f5d87b59d1442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73672338af4feb" /><Relationship Type="http://schemas.openxmlformats.org/officeDocument/2006/relationships/notesMaster" Target="/ppt/notesMasters/notesMaster1.xml" Id="R6d213967db0742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a28da15abe4fc4" /><Relationship Type="http://schemas.openxmlformats.org/officeDocument/2006/relationships/notesMaster" Target="/ppt/notesMasters/notesMaster1.xml" Id="R607a4cdfe86545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16f5277405497d" /><Relationship Type="http://schemas.openxmlformats.org/officeDocument/2006/relationships/notesMaster" Target="/ppt/notesMasters/notesMaster1.xml" Id="Rde0bdb3ed95245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0:00 a 0:40. Apresentar o objetivo: explicar como ULA, registradores e Unidade de Controle participam da execução de uma instrução. Pergunta mobilizadora: quando pedimos uma soma ao computador, qual parte calcula e onde fica o resultado? Não antecipar todas as respostas. Público previsto: graduação em início de formação. A aula usa um núcleo simplificado e não a planta física de um processador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0:40 a 1:30. Arquitetura descreve recursos e comportamentos que o software pode usar, como instruções e registradores arquiteturais. Organização descreve como os componentes implementam esses recursos. A microarquitetura é um nível dessa implementação interna. O mesmo conjunto de instruções pode ter diferentes implementações. Nesta aula vamos relacionar a instrução de soma com a organização funcional de um núcleo, sem aprofundar pipeline ou caches.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https://www.arm.com/architecture/cpu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1:30 a 2:20. CPU significa Central Processing Unit. Explicar que ela busca, interpreta e executa instruções. Não chamar o gabinete de CPU. Um processador pode conter vários núcleos. Cada núcleo possui recursos de execução e controle, com diferentes arranjos conforme o projeto. Aqui representamos um único núcleo para estudar os papéis funcionais. Não dizer que a CPU faz todo o processamento de um sistema: GPUs e outros dispositivos também processam.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2:20 a 3:15. Trabalhar a ideia de cooperação: a UC interpreta a instrução e gera sinais, os registradores mantêm operandos e resultados, e a ULA realiza as operações. São partes de um núcleo simplificado. O modelo omite caches, interconexões e outras unidades. Evitar a ideia de que são três equipamentos separados conectados externamente.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3:15 a 4:20. Definir ULA como circuito responsável por operações aritméticas e lógicas. Neste exemplo, ela soma operandos recebidos dos registradores. Exemplos aritméticos: adição e subtração. Exemplos lógicos: AND e OR sobre bits. Comparações podem usar resultados e sinais de estado produzidos por essas operações, dependendo da arquitetura. Não afirmar que multiplicação e divisão sempre pertencem à mesma ULA simples. A ULA calcula; registradores guardam os valores.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4:20 a 5:25. Registradores são pequenas posições de armazenamento dentro do núcleo, com acesso rápido e funções definidas. R1 e R2 guardarão os operandos e R3 receberá o resultado. O exemplo já começa com os operandos carregados, sem mostrar as instruções que os trouxeram da memória. Não confundir registradores com RAM nem com cache. Quantidade, nomes e larguras variam conforme a arquitetura.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5:25 a 6:25. Apresentar PC como contador de programa, usado para indicar o endereço da próxima instrução a buscar no modelo. RI significa registrador de instrução, que representa a instrução em processamento no modelo. A notação e a existência de um único RI visível variam entre processadores; não apresentar como uma lista universal. A memória guarda a codificação binária, embora a aula escreva o mnemônico legível. O PC guarda um endereço, não o resultado da soma. Neste modelo as instruções ocupam uma posição e a busca sequencial atualiza o PC de 100 para 101.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https://www.arm.com/glossary/cpu</a:t>
            </a:r>
          </a:p>
          <a:p xmlns:a="http://schemas.openxmlformats.org/drawingml/2006/main">
            <a:r>
              <a:t>https://www.intel.com/content/www/us/en/education/k12/the-journey-inside/explore-the-curriculum/microprocessors.html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6:25 a 7:25. A Unidade de Controle interpreta a instrução e gera sinais que coordenam leitura de registradores, escolha da operação da ULA e escrita do resultado. Ela não realiza a soma no lugar da ULA. No nosso modelo a UC identifica ADD, seleciona R1 e R2 como origens e R3 como destino. Os sinais podem ser implementados de formas diferentes, mas o papel funcional é o foco.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7:25 a 8:40. Apresentar uma sequência funcional de busca, decodificação, execução e gravação do resultado. Alguns modelos agrupam gravação na execução e algumas instruções não produzem resultado em registrador. A sequência mostrada é adequada à soma do exemplo. Não afirmar que cada etapa dura um pulso de clock ou que uma instrução equivale a um ciclo. CPUs modernas podem sobrepor etapas e executar várias instruções em paralelo. A busca usa o sistema de memória, com caches omitidos no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https://www.intel.com/content/www/us/en/education/k12/the-journey-inside/explore-the-curriculum/microprocessors.html</a:t>
            </a:r>
          </a:p>
          <a:p xmlns:a="http://schemas.openxmlformats.org/drawingml/2006/main">
            <a:r>
              <a:t>https://www.arm.com/glossary/cpu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8:40 a 9:40. Definir explicitamente a máquina didática. A instrução é um mnemônico em pseudolinguagem de montagem e não um comando de uma arquitetura real específica. Sintaxe escolhida: primeiro o destino, depois as duas origens. ADD R3, R1, R2 significa R3 recebe R1 mais R2. Estado inicial: R1=5, R2=3, R3=0 e PC=100. A posição 100 contém a instrução ADD e cada instrução ocupa uma posição nesse modelo. Os valores são decimais apenas para facilitar a leitura. Na memória e nos circuitos, as codificações são binárias. Perguntar qual deve ser o resultado, sem atribuir à UC o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9:40 a 11:00. Mostrar passo a passo: PC=100 fornece o endereço para a busca. A instrução da posição 100 é recebida no RI do modelo. O PC avança para 101 para a busca sequencial seguinte. A UC decodifica ADD e identifica origens R1 e R2 e destino R3. O exemplo não contém salto ou desvio. O avanço de uma posição é uma convenção didática, não a regra universal de CPUs endereçadas por byte. Ao final desse slide, R3 continua 0 porque ainda não demonstramos a gravação do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https://www.intel.com/content/www/us/en/education/k12/the-journey-inside/explore-the-curriculum/microprocessors.html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11:00 a 13:00. Retomar estado inicial sem alterar origens. Sob coordenação da UC, os valores 5 e 3 são lidos dos registradores e enviados à ULA, que calcula 8. A escrita habilitada pela UC registra 8 em R3. R1 e R2 permanecem iguais. O resultado não foi automaticamente gravado na RAM nem exibido na tela: isso exigiria outras operações. Verificar a divisão de responsabilidades: quem calcula? ULA. Onde o valor fica? R3. Quem coordena? UC. O PC já aponta 101 no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13:00 a 14:30. Aplicar uma transferência curta: executar ADD R3, R1, R2 com R1=9, R2=4 e R3=0. Perguntas: 1. Qual será o valor final de R3? 13. 2. Quem calcula e quem coordena a escrita? ULA calcula, UC coordena. 3. Onde o resultado permanece no modelo? R3. Pedir justificativa breve. Opcional apenas se houver tempo: PC=200 passará a 201 para busca sequencial no mesmo modelo. Não acrescentar um novo conceito no fechamento. Síntese: a CPU executa a instrução com cooperação dos componentes; ULA calcula, registradores mantêm valores e UC coordena. Encerrar em 14:30 e manter 30 segundos de margem.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278d23466e4e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f4af846b4d4e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7825fe85c47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f9c9c55c0542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1e6ab41434f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ca63c93f0241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694F0D-2B94-4FAA-AD3E-B5BB2FBF24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2D6118-FE2E-417C-848C-808261EDB3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BF8621-5FED-423F-98E6-34C253407F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FB836F-D64F-409C-AE5F-481176A18D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E6B5CE1-1F88-4197-BD4E-E41CE6A199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A1732B-0564-478C-BCA3-A20CB3DEA7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13F36A-1C2F-4460-83C9-9350A07197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6E8757B-EFD7-4A83-A87B-BB90E87A53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FFC52B-CFF3-40E2-8D4E-70D026D5CA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272502-691A-4F46-9D16-02251C4EF0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31308ebe4e492d" /><Relationship Type="http://schemas.openxmlformats.org/officeDocument/2006/relationships/slideLayout" Target="/ppt/slideLayouts/slideLayout1.xml" Id="R0d611561b8424397" /><Relationship Type="http://schemas.openxmlformats.org/officeDocument/2006/relationships/slideLayout" Target="/ppt/slideLayouts/slideLayout2.xml" Id="Rc052e4a7e5d1419e" /><Relationship Type="http://schemas.openxmlformats.org/officeDocument/2006/relationships/slideLayout" Target="/ppt/slideLayouts/slideLayout3.xml" Id="R37983ff2185a453f" /><Relationship Type="http://schemas.openxmlformats.org/officeDocument/2006/relationships/slideLayout" Target="/ppt/slideLayouts/slideLayout4.xml" Id="R1b69f6f0b5624947" /><Relationship Type="http://schemas.openxmlformats.org/officeDocument/2006/relationships/slideLayout" Target="/ppt/slideLayouts/slideLayout5.xml" Id="R9153903d44aa4051" /><Relationship Type="http://schemas.openxmlformats.org/officeDocument/2006/relationships/slideLayout" Target="/ppt/slideLayouts/slideLayout6.xml" Id="R4dcac23c781344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611561b8424397"/>
    <p:sldLayoutId xmlns:r="http://schemas.openxmlformats.org/officeDocument/2006/relationships" id="2147483650" r:id="Rc052e4a7e5d1419e"/>
    <p:sldLayoutId xmlns:r="http://schemas.openxmlformats.org/officeDocument/2006/relationships" id="2147483651" r:id="R37983ff2185a453f"/>
    <p:sldLayoutId xmlns:r="http://schemas.openxmlformats.org/officeDocument/2006/relationships" id="2147483652" r:id="R1b69f6f0b5624947"/>
    <p:sldLayoutId xmlns:r="http://schemas.openxmlformats.org/officeDocument/2006/relationships" id="2147483653" r:id="R9153903d44aa4051"/>
    <p:sldLayoutId xmlns:r="http://schemas.openxmlformats.org/officeDocument/2006/relationships" id="2147483654" r:id="R4dcac23c781344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7e22ed3bf413b" /><Relationship Type="http://schemas.openxmlformats.org/officeDocument/2006/relationships/notesSlide" Target="/ppt/notesSlides/notesSlide1.xml" Id="Ra8877b06dbf047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8d54e19d32462f" /><Relationship Type="http://schemas.openxmlformats.org/officeDocument/2006/relationships/notesSlide" Target="/ppt/notesSlides/notesSlide2.xml" Id="Re5d9c2cf080a42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3d50b0ff3943c1" /><Relationship Type="http://schemas.openxmlformats.org/officeDocument/2006/relationships/notesSlide" Target="/ppt/notesSlides/notesSlide3.xml" Id="Rc6fb2ed8307b44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c8d820fbcc4a4d" /><Relationship Type="http://schemas.openxmlformats.org/officeDocument/2006/relationships/notesSlide" Target="/ppt/notesSlides/notesSlide4.xml" Id="Rf73af44ec73541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aaa1a2afe946b1" /><Relationship Type="http://schemas.openxmlformats.org/officeDocument/2006/relationships/notesSlide" Target="/ppt/notesSlides/notesSlide5.xml" Id="R19d768af1a6547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e67f6184094602" /><Relationship Type="http://schemas.openxmlformats.org/officeDocument/2006/relationships/notesSlide" Target="/ppt/notesSlides/notesSlide6.xml" Id="Ra43dc65d9fd64c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384c75d3c144a2" /><Relationship Type="http://schemas.openxmlformats.org/officeDocument/2006/relationships/notesSlide" Target="/ppt/notesSlides/notesSlide7.xml" Id="R677d7bb324404e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61e05f7e78445a" /><Relationship Type="http://schemas.openxmlformats.org/officeDocument/2006/relationships/notesSlide" Target="/ppt/notesSlides/notesSlide8.xml" Id="R2dd3190d20f547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cd9587874e495e" /><Relationship Type="http://schemas.openxmlformats.org/officeDocument/2006/relationships/notesSlide" Target="/ppt/notesSlides/notesSlide9.xml" Id="R003bcb35c50547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752d242979490b" /><Relationship Type="http://schemas.openxmlformats.org/officeDocument/2006/relationships/notesSlide" Target="/ppt/notesSlides/notesSlide10.xml" Id="Ra3e045a5d21e43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a9c87a70514e26" /><Relationship Type="http://schemas.openxmlformats.org/officeDocument/2006/relationships/notesSlide" Target="/ppt/notesSlides/notesSlide11.xml" Id="R2e6ba3dd0d2a4d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a5bb1ceb41402e" /><Relationship Type="http://schemas.openxmlformats.org/officeDocument/2006/relationships/notesSlide" Target="/ppt/notesSlides/notesSlide12.xml" Id="Rad633952114847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49b66b771f4844" /><Relationship Type="http://schemas.openxmlformats.org/officeDocument/2006/relationships/notesSlide" Target="/ppt/notesSlides/notesSlide13.xml" Id="R49bf940f624445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D4B4024F-A3F9-4630-806C-4ED47C4D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Arquitetura e Organização de Computadores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C31890AC-138A-4716-9076-1E32336E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210C80-B2E5-4F53-B4C1-5BBD00DD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Como a CPU executa</a:t>
            </a:r>
          </a:p>
          <a:p xmlns:a="http://schemas.openxmlformats.org/drawingml/2006/main">
            <a: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uma instrução</a:t>
            </a:r>
          </a:p>
        </p:txBody>
      </p:sp>
      <p:sp>
        <p:nvSpPr>
          <p:cNvPr id="4" name="components">
            <a:extLst xmlns:a="http://schemas.openxmlformats.org/drawingml/2006/main">
              <a:ext uri="{FF2B5EF4-FFF2-40B4-BE49-F238E27FC236}">
                <a16:creationId xmlns:a16="http://schemas.microsoft.com/office/drawing/2014/main" id="{73ACCB0A-C20C-4AEB-84FB-CB990D99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ULA, registradores e Unidade de Controle</a:t>
            </a:r>
          </a:p>
        </p:txBody>
      </p:sp>
      <p:sp>
        <p:nvSpPr>
          <p:cNvPr id="5" name="objective">
            <a:extLst xmlns:a="http://schemas.openxmlformats.org/drawingml/2006/main">
              <a:ext uri="{FF2B5EF4-FFF2-40B4-BE49-F238E27FC236}">
                <a16:creationId xmlns:a16="http://schemas.microsoft.com/office/drawing/2014/main" id="{B8932FBD-A91F-48E1-9FD3-F8050C72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Objetivo: identificar a função de cada componente</a:t>
            </a:r>
          </a:p>
          <a:p xmlns:a="http://schemas.openxmlformats.org/drawingml/2006/main">
            <a: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e acompanhar uma soma dentro da CPU.</a:t>
            </a:r>
          </a:p>
        </p:txBody>
      </p:sp>
      <p:sp>
        <p:nvSpPr>
          <p:cNvPr id="6" name="author">
            <a:extLst xmlns:a="http://schemas.openxmlformats.org/drawingml/2006/main">
              <a:ext uri="{FF2B5EF4-FFF2-40B4-BE49-F238E27FC236}">
                <a16:creationId xmlns:a16="http://schemas.microsoft.com/office/drawing/2014/main" id="{901F5997-43C6-4D1C-A33E-7DCA2914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Prof.ª Giulianie Aparecida Machado Ferreira</a:t>
            </a:r>
          </a:p>
        </p:txBody>
      </p:sp>
    </p:spTree>
    <p:extLst>
      <p:ext uri="{BB962C8B-B14F-4D97-AF65-F5344CB8AC3E}">
        <p14:creationId xmlns:p14="http://schemas.microsoft.com/office/powerpoint/2010/main" val="20435648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9BBBAACF-651C-4902-B363-5BF94412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Arquitetura e organização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87B8BA4C-8610-440A-9115-964E5A64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ARQUITETURA-label">
            <a:extLst xmlns:a="http://schemas.openxmlformats.org/drawingml/2006/main">
              <a:ext uri="{FF2B5EF4-FFF2-40B4-BE49-F238E27FC236}">
                <a16:creationId xmlns:a16="http://schemas.microsoft.com/office/drawing/2014/main" id="{AED4B36F-144C-474E-AC52-E3D11409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ARQUITETURA</a:t>
            </a:r>
          </a:p>
        </p:txBody>
      </p:sp>
      <p:sp>
        <p:nvSpPr>
          <p:cNvPr id="4" name="ARQUITETURA-desc">
            <a:extLst xmlns:a="http://schemas.openxmlformats.org/drawingml/2006/main">
              <a:ext uri="{FF2B5EF4-FFF2-40B4-BE49-F238E27FC236}">
                <a16:creationId xmlns:a16="http://schemas.microsoft.com/office/drawing/2014/main" id="{4A1D739D-35E1-4F5C-A996-1BC30809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O que o software pode usar</a:t>
            </a:r>
          </a:p>
          <a:p xmlns:a="http://schemas.openxmlformats.org/drawingml/2006/main">
            <a: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Instruções e registradores visíveis</a:t>
            </a:r>
          </a:p>
        </p:txBody>
      </p:sp>
      <p:sp>
        <p:nvSpPr>
          <p:cNvPr id="5" name="ORGANIZAÇÃO-label">
            <a:extLst xmlns:a="http://schemas.openxmlformats.org/drawingml/2006/main">
              <a:ext uri="{FF2B5EF4-FFF2-40B4-BE49-F238E27FC236}">
                <a16:creationId xmlns:a16="http://schemas.microsoft.com/office/drawing/2014/main" id="{46D81823-6684-46C2-92E6-49029B86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ORGANIZAÇÃO</a:t>
            </a:r>
          </a:p>
        </p:txBody>
      </p:sp>
      <p:sp>
        <p:nvSpPr>
          <p:cNvPr id="6" name="ORGANIZAÇÃO-desc">
            <a:extLst xmlns:a="http://schemas.openxmlformats.org/drawingml/2006/main">
              <a:ext uri="{FF2B5EF4-FFF2-40B4-BE49-F238E27FC236}">
                <a16:creationId xmlns:a16="http://schemas.microsoft.com/office/drawing/2014/main" id="{26CC0718-E687-445C-B548-CB0C0178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81375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Como os componentes implementam</a:t>
            </a:r>
          </a:p>
          <a:p xmlns:a="http://schemas.openxmlformats.org/drawingml/2006/main">
            <a: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a execução dessas instruções</a:t>
            </a:r>
          </a:p>
        </p:txBody>
      </p:sp>
      <p:sp>
        <p:nvSpPr>
          <p:cNvPr id="7" name="focus">
            <a:extLst xmlns:a="http://schemas.openxmlformats.org/drawingml/2006/main">
              <a:ext uri="{FF2B5EF4-FFF2-40B4-BE49-F238E27FC236}">
                <a16:creationId xmlns:a16="http://schemas.microsoft.com/office/drawing/2014/main" id="{9425CFDC-886F-42F2-8FD5-3EE8E590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Recorte da aula: o funcionamento de um núcleo simplificado.</a:t>
            </a:r>
          </a:p>
        </p:txBody>
      </p:sp>
    </p:spTree>
    <p:extLst>
      <p:ext uri="{BB962C8B-B14F-4D97-AF65-F5344CB8AC3E}">
        <p14:creationId xmlns:p14="http://schemas.microsoft.com/office/powerpoint/2010/main" val="1246362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7E1433B1-91DF-43DF-BE74-945356AD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CPU: Unidade Central de Processamento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76E3EC0-8BD6-4480-8CDC-20307A63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definition">
            <a:extLst xmlns:a="http://schemas.openxmlformats.org/drawingml/2006/main">
              <a:ext uri="{FF2B5EF4-FFF2-40B4-BE49-F238E27FC236}">
                <a16:creationId xmlns:a16="http://schemas.microsoft.com/office/drawing/2014/main" id="{76E9C4C9-D079-48D3-928A-52AE0214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5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A CPU executa instruções de programas</a:t>
            </a:r>
          </a:p>
          <a:p xmlns:a="http://schemas.openxmlformats.org/drawingml/2006/main">
            <a:pPr>
              <a:def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e coordena operações de processamento.</a:t>
            </a:r>
          </a:p>
        </p:txBody>
      </p:sp>
      <p:sp>
        <p:nvSpPr>
          <p:cNvPr id="4" name="core">
            <a:extLst xmlns:a="http://schemas.openxmlformats.org/drawingml/2006/main">
              <a:ext uri="{FF2B5EF4-FFF2-40B4-BE49-F238E27FC236}">
                <a16:creationId xmlns:a16="http://schemas.microsoft.com/office/drawing/2014/main" id="{63C2317D-6B47-4777-A410-9DC50742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Um processador pode ter vários núcleos.</a:t>
            </a:r>
          </a:p>
        </p:txBody>
      </p:sp>
      <p:sp>
        <p:nvSpPr>
          <p:cNvPr id="5" name="scope">
            <a:extLst xmlns:a="http://schemas.openxmlformats.org/drawingml/2006/main">
              <a:ext uri="{FF2B5EF4-FFF2-40B4-BE49-F238E27FC236}">
                <a16:creationId xmlns:a16="http://schemas.microsoft.com/office/drawing/2014/main" id="{31F73724-57EF-4A2D-B393-E81CA421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Nesta aula, acompanharemos uma instrução</a:t>
            </a:r>
          </a:p>
          <a:p xmlns:a="http://schemas.openxmlformats.org/drawingml/2006/main">
            <a:pPr>
              <a:defRPr sz="23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em um único núcleo, em modelo didático.</a:t>
            </a:r>
          </a:p>
        </p:txBody>
      </p:sp>
    </p:spTree>
    <p:extLst>
      <p:ext uri="{BB962C8B-B14F-4D97-AF65-F5344CB8AC3E}">
        <p14:creationId xmlns:p14="http://schemas.microsoft.com/office/powerpoint/2010/main" val="11735349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1FC9D14D-8484-4550-A27E-0E6027C5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Componentes em cooperação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7FB96ADE-469A-4A1D-8F8E-BC9F28BF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ULA-label">
            <a:extLst xmlns:a="http://schemas.openxmlformats.org/drawingml/2006/main">
              <a:ext uri="{FF2B5EF4-FFF2-40B4-BE49-F238E27FC236}">
                <a16:creationId xmlns:a16="http://schemas.microsoft.com/office/drawing/2014/main" id="{D531D8FD-8394-4794-AE14-0814F082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ULA</a:t>
            </a:r>
          </a:p>
        </p:txBody>
      </p:sp>
      <p:sp>
        <p:nvSpPr>
          <p:cNvPr id="4" name="ULA-desc">
            <a:extLst xmlns:a="http://schemas.openxmlformats.org/drawingml/2006/main">
              <a:ext uri="{FF2B5EF4-FFF2-40B4-BE49-F238E27FC236}">
                <a16:creationId xmlns:a16="http://schemas.microsoft.com/office/drawing/2014/main" id="{AAAB1F0D-2716-4B3D-8117-05D0B76C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24025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Realiza operações aritméticas e lógicas</a:t>
            </a:r>
          </a:p>
        </p:txBody>
      </p:sp>
      <p:sp>
        <p:nvSpPr>
          <p:cNvPr id="5" name="REGISTRADORES-label">
            <a:extLst xmlns:a="http://schemas.openxmlformats.org/drawingml/2006/main">
              <a:ext uri="{FF2B5EF4-FFF2-40B4-BE49-F238E27FC236}">
                <a16:creationId xmlns:a16="http://schemas.microsoft.com/office/drawing/2014/main" id="{0F6B73B2-FB6D-402C-A9A6-46A5A3C5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REGISTRADORES</a:t>
            </a:r>
          </a:p>
        </p:txBody>
      </p:sp>
      <p:sp>
        <p:nvSpPr>
          <p:cNvPr id="6" name="REGISTRADORES-desc">
            <a:extLst xmlns:a="http://schemas.openxmlformats.org/drawingml/2006/main">
              <a:ext uri="{FF2B5EF4-FFF2-40B4-BE49-F238E27FC236}">
                <a16:creationId xmlns:a16="http://schemas.microsoft.com/office/drawing/2014/main" id="{9F47D13B-2968-4505-A8C1-26387019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9925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Mantêm valores usados na execução</a:t>
            </a:r>
          </a:p>
        </p:txBody>
      </p:sp>
      <p:sp>
        <p:nvSpPr>
          <p:cNvPr id="7" name="UNIDADE DE CONTROLE-label">
            <a:extLst xmlns:a="http://schemas.openxmlformats.org/drawingml/2006/main">
              <a:ext uri="{FF2B5EF4-FFF2-40B4-BE49-F238E27FC236}">
                <a16:creationId xmlns:a16="http://schemas.microsoft.com/office/drawing/2014/main" id="{4431533C-6294-49BF-9A08-23CE5D3D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UNIDADE DE</a:t>
            </a:r>
          </a:p>
          <a:p xmlns:a="http://schemas.openxmlformats.org/drawingml/2006/main">
            <a: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CONTROLE</a:t>
            </a:r>
          </a:p>
        </p:txBody>
      </p:sp>
      <p:sp>
        <p:nvSpPr>
          <p:cNvPr id="8" name="UNIDADE DE CONTROLE-desc">
            <a:extLst xmlns:a="http://schemas.openxmlformats.org/drawingml/2006/main">
              <a:ext uri="{FF2B5EF4-FFF2-40B4-BE49-F238E27FC236}">
                <a16:creationId xmlns:a16="http://schemas.microsoft.com/office/drawing/2014/main" id="{6B991865-E8EE-4769-BA96-78B5223C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95825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Interpreta instruções e coordena ações</a:t>
            </a:r>
          </a:p>
        </p:txBody>
      </p:sp>
    </p:spTree>
    <p:extLst>
      <p:ext uri="{BB962C8B-B14F-4D97-AF65-F5344CB8AC3E}">
        <p14:creationId xmlns:p14="http://schemas.microsoft.com/office/powerpoint/2010/main" val="6630964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50E66A9A-9A6C-430D-A414-F654CF66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ULA: Unidade Lógico-Aritmética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6962FF0-8C28-411C-A520-74B8EB6C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definition">
            <a:extLst xmlns:a="http://schemas.openxmlformats.org/drawingml/2006/main">
              <a:ext uri="{FF2B5EF4-FFF2-40B4-BE49-F238E27FC236}">
                <a16:creationId xmlns:a16="http://schemas.microsoft.com/office/drawing/2014/main" id="{CBCD5E26-E767-432F-969B-4856DDDB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Circuito que realiza operações</a:t>
            </a:r>
          </a:p>
          <a:p xmlns:a="http://schemas.openxmlformats.org/drawingml/2006/main">
            <a: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sobre os valores de entrada.</a:t>
            </a:r>
          </a:p>
        </p:txBody>
      </p:sp>
      <p:sp>
        <p:nvSpPr>
          <p:cNvPr id="4" name="arith">
            <a:extLst xmlns:a="http://schemas.openxmlformats.org/drawingml/2006/main">
              <a:ext uri="{FF2B5EF4-FFF2-40B4-BE49-F238E27FC236}">
                <a16:creationId xmlns:a16="http://schemas.microsoft.com/office/drawing/2014/main" id="{27811823-25AE-42D3-A0D5-B2F64C25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ARITMÉTICA</a:t>
            </a:r>
          </a:p>
        </p:txBody>
      </p:sp>
      <p:sp>
        <p:nvSpPr>
          <p:cNvPr id="5" name="sum">
            <a:extLst xmlns:a="http://schemas.openxmlformats.org/drawingml/2006/main">
              <a:ext uri="{FF2B5EF4-FFF2-40B4-BE49-F238E27FC236}">
                <a16:creationId xmlns:a16="http://schemas.microsoft.com/office/drawing/2014/main" id="{2185FAAC-A80C-459A-BD7D-B827C526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3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3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3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3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3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3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3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3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3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3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5 + 3 = 8</a:t>
            </a:r>
          </a:p>
        </p:txBody>
      </p:sp>
      <p:sp>
        <p:nvSpPr>
          <p:cNvPr id="6" name="logic">
            <a:extLst xmlns:a="http://schemas.openxmlformats.org/drawingml/2006/main">
              <a:ext uri="{FF2B5EF4-FFF2-40B4-BE49-F238E27FC236}">
                <a16:creationId xmlns:a16="http://schemas.microsoft.com/office/drawing/2014/main" id="{EDF85E18-78F6-4FAE-864F-3072C636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0515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LÓGICA</a:t>
            </a:r>
          </a:p>
        </p:txBody>
      </p:sp>
      <p:sp>
        <p:nvSpPr>
          <p:cNvPr id="7" name="logic-desc">
            <a:extLst xmlns:a="http://schemas.openxmlformats.org/drawingml/2006/main">
              <a:ext uri="{FF2B5EF4-FFF2-40B4-BE49-F238E27FC236}">
                <a16:creationId xmlns:a16="http://schemas.microsoft.com/office/drawing/2014/main" id="{9F9050E6-4C8D-4113-B87C-E03AAA46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14775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AND e OR</a:t>
            </a:r>
          </a:p>
          <a:p xmlns:a="http://schemas.openxmlformats.org/drawingml/2006/main">
            <a: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Operações sobre bits</a:t>
            </a:r>
          </a:p>
        </p:txBody>
      </p:sp>
      <p:sp>
        <p:nvSpPr>
          <p:cNvPr id="8" name="ula-note">
            <a:extLst xmlns:a="http://schemas.openxmlformats.org/drawingml/2006/main">
              <a:ext uri="{FF2B5EF4-FFF2-40B4-BE49-F238E27FC236}">
                <a16:creationId xmlns:a16="http://schemas.microsoft.com/office/drawing/2014/main" id="{C85AF66F-4F31-4F02-BB90-6F9D3F28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A operação depende da instrução e dos sinais de controle.</a:t>
            </a:r>
          </a:p>
        </p:txBody>
      </p:sp>
    </p:spTree>
    <p:extLst>
      <p:ext uri="{BB962C8B-B14F-4D97-AF65-F5344CB8AC3E}">
        <p14:creationId xmlns:p14="http://schemas.microsoft.com/office/powerpoint/2010/main" val="9219130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6646ED70-3813-4232-BBC0-317B7B72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Registradores: valores próximos da execução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6111285-9DA4-4DD2-BAC2-1DBDA9A0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definition">
            <a:extLst xmlns:a="http://schemas.openxmlformats.org/drawingml/2006/main">
              <a:ext uri="{FF2B5EF4-FFF2-40B4-BE49-F238E27FC236}">
                <a16:creationId xmlns:a16="http://schemas.microsoft.com/office/drawing/2014/main" id="{0CB64148-DACA-4D68-AEC9-14D0D098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Pequenas posições de armazenamento no núcleo</a:t>
            </a:r>
          </a:p>
          <a:p xmlns:a="http://schemas.openxmlformats.org/drawingml/2006/main">
            <a:pPr>
              <a:def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para operandos, resultados e informações de controle.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38796-6307-4BA3-8BF8-BC90084F8B0C}"/>
              </a:ext>
            </a:extLst>
          </p:cNvPr>
          <p:cNvGraphicFramePr/>
          <p:nvPr/>
        </p:nvGraphicFramePr>
        <p:xfrm>
          <a:off xmlns:a="http://schemas.openxmlformats.org/drawingml/2006/main" x="609600" y="3124200"/>
          <a:ext xmlns:a="http://schemas.openxmlformats.org/drawingml/2006/main" cx="108585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476500"/>
                <a:gridCol w="5905500"/>
              </a:tblGrid>
              <a:tr h="642938"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Registrador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456079"/>
                      </a:solidFill>
                      <a:prstDash val="soli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Valor inicial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Função no exemplo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</a:tr>
              <a:tr h="642938"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456079"/>
                      </a:solidFill>
                      <a:prstDash val="soli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Primeiro operando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</a:tr>
              <a:tr h="642938"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456079"/>
                      </a:solidFill>
                      <a:prstDash val="soli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Segundo operando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</a:tr>
              <a:tr h="642938"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456079"/>
                      </a:solidFill>
                      <a:prstDash val="soli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Destino do resultado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84174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C1E30FA4-F20F-48E9-8038-CE419A34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Registradores de controle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0C84A74-1AAD-4D54-BDA3-ACFB3F45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PC-label">
            <a:extLst xmlns:a="http://schemas.openxmlformats.org/drawingml/2006/main">
              <a:ext uri="{FF2B5EF4-FFF2-40B4-BE49-F238E27FC236}">
                <a16:creationId xmlns:a16="http://schemas.microsoft.com/office/drawing/2014/main" id="{6852AD16-BE60-4521-A873-65D496FA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PC</a:t>
            </a:r>
          </a:p>
        </p:txBody>
      </p:sp>
      <p:sp>
        <p:nvSpPr>
          <p:cNvPr id="4" name="PC-desc">
            <a:extLst xmlns:a="http://schemas.openxmlformats.org/drawingml/2006/main">
              <a:ext uri="{FF2B5EF4-FFF2-40B4-BE49-F238E27FC236}">
                <a16:creationId xmlns:a16="http://schemas.microsoft.com/office/drawing/2014/main" id="{006B9F50-0CF2-40A2-A402-3E7FB8C2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85925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Contador de programa</a:t>
            </a:r>
          </a:p>
          <a:p xmlns:a="http://schemas.openxmlformats.org/drawingml/2006/main">
            <a: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Endereço da próxima instrução a buscar</a:t>
            </a:r>
          </a:p>
        </p:txBody>
      </p:sp>
      <p:sp>
        <p:nvSpPr>
          <p:cNvPr id="5" name="RI-label">
            <a:extLst xmlns:a="http://schemas.openxmlformats.org/drawingml/2006/main">
              <a:ext uri="{FF2B5EF4-FFF2-40B4-BE49-F238E27FC236}">
                <a16:creationId xmlns:a16="http://schemas.microsoft.com/office/drawing/2014/main" id="{F418F54B-0C1E-4732-9281-D851E6C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RI</a:t>
            </a:r>
          </a:p>
        </p:txBody>
      </p:sp>
      <p:sp>
        <p:nvSpPr>
          <p:cNvPr id="6" name="RI-desc">
            <a:extLst xmlns:a="http://schemas.openxmlformats.org/drawingml/2006/main">
              <a:ext uri="{FF2B5EF4-FFF2-40B4-BE49-F238E27FC236}">
                <a16:creationId xmlns:a16="http://schemas.microsoft.com/office/drawing/2014/main" id="{A7742194-48BD-41C4-95B3-BAF0AB80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Registrador de instrução</a:t>
            </a:r>
          </a:p>
          <a:p xmlns:a="http://schemas.openxmlformats.org/drawingml/2006/main">
            <a: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Instrução em processamento no modelo</a:t>
            </a:r>
          </a:p>
        </p:txBody>
      </p:sp>
      <p:sp>
        <p:nvSpPr>
          <p:cNvPr id="7" name="pc-example">
            <a:extLst xmlns:a="http://schemas.openxmlformats.org/drawingml/2006/main">
              <a:ext uri="{FF2B5EF4-FFF2-40B4-BE49-F238E27FC236}">
                <a16:creationId xmlns:a16="http://schemas.microsoft.com/office/drawing/2014/main" id="{89C8F27D-F97C-4360-B55A-713D220B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Exemplo: PC = 100 indica um endereço de instrução.</a:t>
            </a:r>
          </a:p>
        </p:txBody>
      </p:sp>
    </p:spTree>
    <p:extLst>
      <p:ext uri="{BB962C8B-B14F-4D97-AF65-F5344CB8AC3E}">
        <p14:creationId xmlns:p14="http://schemas.microsoft.com/office/powerpoint/2010/main" val="5915291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629197C1-C7E6-4F23-B700-0B159AD6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Unidade de Controle: coordenação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F69579C2-193A-4022-BD65-F107A885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definition">
            <a:extLst xmlns:a="http://schemas.openxmlformats.org/drawingml/2006/main">
              <a:ext uri="{FF2B5EF4-FFF2-40B4-BE49-F238E27FC236}">
                <a16:creationId xmlns:a16="http://schemas.microsoft.com/office/drawing/2014/main" id="{F2B76BA2-CE26-4332-ADDD-DB78EE44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5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Interpreta a instrução e coordena</a:t>
            </a:r>
          </a:p>
          <a:p xmlns:a="http://schemas.openxmlformats.org/drawingml/2006/main">
            <a:pPr>
              <a:def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a movimentação e o processamento dos dados.</a:t>
            </a:r>
          </a:p>
        </p:txBody>
      </p:sp>
      <p:sp>
        <p:nvSpPr>
          <p:cNvPr id="4" name="a">
            <a:extLst xmlns:a="http://schemas.openxmlformats.org/drawingml/2006/main">
              <a:ext uri="{FF2B5EF4-FFF2-40B4-BE49-F238E27FC236}">
                <a16:creationId xmlns:a16="http://schemas.microsoft.com/office/drawing/2014/main" id="{33E064FC-CDDC-423F-9945-E24145F7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01   Seleciona os operandos nos registradores</a:t>
            </a:r>
          </a:p>
        </p:txBody>
      </p:sp>
      <p:sp>
        <p:nvSpPr>
          <p:cNvPr id="5" name="b">
            <a:extLst xmlns:a="http://schemas.openxmlformats.org/drawingml/2006/main">
              <a:ext uri="{FF2B5EF4-FFF2-40B4-BE49-F238E27FC236}">
                <a16:creationId xmlns:a16="http://schemas.microsoft.com/office/drawing/2014/main" id="{0D806186-EFDB-4648-9549-45147146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02   Define a operação que a ULA realizará</a:t>
            </a:r>
          </a:p>
        </p:txBody>
      </p:sp>
      <p:sp>
        <p:nvSpPr>
          <p:cNvPr id="6" name="c">
            <a:extLst xmlns:a="http://schemas.openxmlformats.org/drawingml/2006/main">
              <a:ext uri="{FF2B5EF4-FFF2-40B4-BE49-F238E27FC236}">
                <a16:creationId xmlns:a16="http://schemas.microsoft.com/office/drawing/2014/main" id="{17CA6AAC-1C74-4558-87AF-7F5D91F6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03   Habilita a escrita do resultado no destino</a:t>
            </a:r>
          </a:p>
        </p:txBody>
      </p:sp>
    </p:spTree>
    <p:extLst>
      <p:ext uri="{BB962C8B-B14F-4D97-AF65-F5344CB8AC3E}">
        <p14:creationId xmlns:p14="http://schemas.microsoft.com/office/powerpoint/2010/main" val="14134470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ing">
            <a:extLst xmlns:a="http://schemas.openxmlformats.org/drawingml/2006/main">
              <a:ext uri="{FF2B5EF4-FFF2-40B4-BE49-F238E27FC236}">
                <a16:creationId xmlns:a16="http://schemas.microsoft.com/office/drawing/2014/main" id="{00E8891B-A82E-4F5C-B2D7-A0D5A889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Ciclo de uma instrução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F8B7209E-ECB7-4B95-9B21-88A7DE19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" name="1  BUSCA-label">
            <a:extLst xmlns:a="http://schemas.openxmlformats.org/drawingml/2006/main">
              <a:ext uri="{FF2B5EF4-FFF2-40B4-BE49-F238E27FC236}">
                <a16:creationId xmlns:a16="http://schemas.microsoft.com/office/drawing/2014/main" id="{806BD815-6DEA-47E8-90CC-4CE20455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1  BUSCA</a:t>
            </a:r>
          </a:p>
        </p:txBody>
      </p:sp>
      <p:sp>
        <p:nvSpPr>
          <p:cNvPr id="4" name="1  BUSCA-desc">
            <a:extLst xmlns:a="http://schemas.openxmlformats.org/drawingml/2006/main">
              <a:ext uri="{FF2B5EF4-FFF2-40B4-BE49-F238E27FC236}">
                <a16:creationId xmlns:a16="http://schemas.microsoft.com/office/drawing/2014/main" id="{D20F153D-0C78-4A66-BDDD-298C9D9F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95425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Obter a instrução no sistema de memória</a:t>
            </a:r>
          </a:p>
        </p:txBody>
      </p:sp>
      <p:sp>
        <p:nvSpPr>
          <p:cNvPr id="5" name="2  DECODIFICAÇÃO-label">
            <a:extLst xmlns:a="http://schemas.openxmlformats.org/drawingml/2006/main">
              <a:ext uri="{FF2B5EF4-FFF2-40B4-BE49-F238E27FC236}">
                <a16:creationId xmlns:a16="http://schemas.microsoft.com/office/drawing/2014/main" id="{C4CB60E6-3447-45E4-883D-0BAD2F0B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2  DECODIFICAÇÃO</a:t>
            </a:r>
          </a:p>
        </p:txBody>
      </p:sp>
      <p:sp>
        <p:nvSpPr>
          <p:cNvPr id="6" name="2  DECODIFICAÇÃO-desc">
            <a:extLst xmlns:a="http://schemas.openxmlformats.org/drawingml/2006/main">
              <a:ext uri="{FF2B5EF4-FFF2-40B4-BE49-F238E27FC236}">
                <a16:creationId xmlns:a16="http://schemas.microsoft.com/office/drawing/2014/main" id="{EF141FF8-3312-4D00-9A0F-440C689D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38425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Identificar a operação e seus operandos</a:t>
            </a:r>
          </a:p>
        </p:txBody>
      </p:sp>
      <p:sp>
        <p:nvSpPr>
          <p:cNvPr id="7" name="3  EXECUÇÃO-label">
            <a:extLst xmlns:a="http://schemas.openxmlformats.org/drawingml/2006/main">
              <a:ext uri="{FF2B5EF4-FFF2-40B4-BE49-F238E27FC236}">
                <a16:creationId xmlns:a16="http://schemas.microsoft.com/office/drawing/2014/main" id="{EF9BCF93-C0E8-4A95-A1C2-8C1A2B89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3  EXECUÇÃO</a:t>
            </a:r>
          </a:p>
        </p:txBody>
      </p:sp>
      <p:sp>
        <p:nvSpPr>
          <p:cNvPr id="8" name="3  EXECUÇÃO-desc">
            <a:extLst xmlns:a="http://schemas.openxmlformats.org/drawingml/2006/main">
              <a:ext uri="{FF2B5EF4-FFF2-40B4-BE49-F238E27FC236}">
                <a16:creationId xmlns:a16="http://schemas.microsoft.com/office/drawing/2014/main" id="{4E2F2EE0-E008-44A1-AEB1-2EF961ED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81425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Realizar a operação na ULA</a:t>
            </a:r>
          </a:p>
        </p:txBody>
      </p:sp>
      <p:sp>
        <p:nvSpPr>
          <p:cNvPr id="9" name="4  GRAVAÇÃO-label">
            <a:extLst xmlns:a="http://schemas.openxmlformats.org/drawingml/2006/main">
              <a:ext uri="{FF2B5EF4-FFF2-40B4-BE49-F238E27FC236}">
                <a16:creationId xmlns:a16="http://schemas.microsoft.com/office/drawing/2014/main" id="{D8F4BD53-EE90-4295-9B9B-3A7690E0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4  GRAVAÇÃO</a:t>
            </a:r>
          </a:p>
        </p:txBody>
      </p:sp>
      <p:sp>
        <p:nvSpPr>
          <p:cNvPr id="10" name="4  GRAVAÇÃO-desc">
            <a:extLst xmlns:a="http://schemas.openxmlformats.org/drawingml/2006/main">
              <a:ext uri="{FF2B5EF4-FFF2-40B4-BE49-F238E27FC236}">
                <a16:creationId xmlns:a16="http://schemas.microsoft.com/office/drawing/2014/main" id="{29CE3770-7B77-4569-8E81-6CD22D45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24425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Registrar o resultado no destino</a:t>
            </a:r>
          </a:p>
        </p:txBody>
      </p:sp>
    </p:spTree>
    <p:extLst>
      <p:ext uri="{BB962C8B-B14F-4D97-AF65-F5344CB8AC3E}">
        <p14:creationId xmlns:p14="http://schemas.microsoft.com/office/powerpoint/2010/main" val="1475045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DBBD2F09-5B43-4774-BFE2-EDC83B49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Exemplo didático: uma instrução de soma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18F740E7-3797-47A7-9ECE-E8C9CCBE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code">
            <a:extLst xmlns:a="http://schemas.openxmlformats.org/drawingml/2006/main">
              <a:ext uri="{FF2B5EF4-FFF2-40B4-BE49-F238E27FC236}">
                <a16:creationId xmlns:a16="http://schemas.microsoft.com/office/drawing/2014/main" id="{46205AF4-722C-4FE8-A5FB-67A05EA3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rPr>
              <a:t>ADD R3, R1, R2</a:t>
            </a:r>
          </a:p>
        </p:txBody>
      </p:sp>
      <p:sp>
        <p:nvSpPr>
          <p:cNvPr id="4" name="meaning">
            <a:extLst xmlns:a="http://schemas.openxmlformats.org/drawingml/2006/main">
              <a:ext uri="{FF2B5EF4-FFF2-40B4-BE49-F238E27FC236}">
                <a16:creationId xmlns:a16="http://schemas.microsoft.com/office/drawing/2014/main" id="{799F3210-D26D-41AB-B074-DF9CF474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Significado: R3 recebe R1 + R2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F3F1D-358F-4DB4-AD0C-48E85BD95DE3}"/>
              </a:ext>
            </a:extLst>
          </p:cNvPr>
          <p:cNvGraphicFramePr/>
          <p:nvPr/>
        </p:nvGraphicFramePr>
        <p:xfrm>
          <a:off xmlns:a="http://schemas.openxmlformats.org/drawingml/2006/main" x="609600" y="4038600"/>
          <a:ext xmlns:a="http://schemas.openxmlformats.org/drawingml/2006/main" cx="10858500" cy="119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714625"/>
                <a:gridCol w="2714625"/>
                <a:gridCol w="2714625"/>
              </a:tblGrid>
              <a:tr h="595313"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456079"/>
                      </a:solidFill>
                      <a:prstDash val="soli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</a:tr>
              <a:tr h="595313"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456079"/>
                      </a:solidFill>
                      <a:prstDash val="soli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</a:tr>
            </a:tbl>
          </a:graphicData>
        </a:graphic>
      </p:graphicFrame>
      <p:sp>
        <p:nvSpPr>
          <p:cNvPr id="6" name="assumption">
            <a:extLst xmlns:a="http://schemas.openxmlformats.org/drawingml/2006/main">
              <a:ext uri="{FF2B5EF4-FFF2-40B4-BE49-F238E27FC236}">
                <a16:creationId xmlns:a16="http://schemas.microsoft.com/office/drawing/2014/main" id="{C1ADC514-10D5-47DB-8AD7-88116374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Modelo fictício: destino primeiro e uma posição por instrução.</a:t>
            </a:r>
          </a:p>
        </p:txBody>
      </p:sp>
    </p:spTree>
    <p:extLst>
      <p:ext uri="{BB962C8B-B14F-4D97-AF65-F5344CB8AC3E}">
        <p14:creationId xmlns:p14="http://schemas.microsoft.com/office/powerpoint/2010/main" val="17990194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B667956B-B98C-44A8-B5C5-55DEC0C0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Busca e decodificação da soma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8F851DCB-9293-448F-AD14-C891E496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3" name="fetch">
            <a:extLst xmlns:a="http://schemas.openxmlformats.org/drawingml/2006/main">
              <a:ext uri="{FF2B5EF4-FFF2-40B4-BE49-F238E27FC236}">
                <a16:creationId xmlns:a16="http://schemas.microsoft.com/office/drawing/2014/main" id="{618568FF-33D8-4C2C-91D0-67B1FBF8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BUSCA</a:t>
            </a:r>
          </a:p>
        </p:txBody>
      </p:sp>
      <p:sp>
        <p:nvSpPr>
          <p:cNvPr id="4" name="code">
            <a:extLst xmlns:a="http://schemas.openxmlformats.org/drawingml/2006/main">
              <a:ext uri="{FF2B5EF4-FFF2-40B4-BE49-F238E27FC236}">
                <a16:creationId xmlns:a16="http://schemas.microsoft.com/office/drawing/2014/main" id="{55890108-C7D7-4BAD-89CD-10A26BF4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714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rPr>
              <a:t>PC inicial = 100</a:t>
            </a:r>
          </a:p>
          <a:p xmlns:a="http://schemas.openxmlformats.org/drawingml/2006/main">
            <a:pPr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rPr>
              <a:t>RI = ADD R3, R1, R2</a:t>
            </a:r>
          </a:p>
          <a:p xmlns:a="http://schemas.openxmlformats.org/drawingml/2006/main">
            <a:pPr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rPr>
              <a:t>PC após a busca = 101</a:t>
            </a:r>
          </a:p>
        </p:txBody>
      </p:sp>
      <p:sp>
        <p:nvSpPr>
          <p:cNvPr id="5" name="decode">
            <a:extLst xmlns:a="http://schemas.openxmlformats.org/drawingml/2006/main">
              <a:ext uri="{FF2B5EF4-FFF2-40B4-BE49-F238E27FC236}">
                <a16:creationId xmlns:a16="http://schemas.microsoft.com/office/drawing/2014/main" id="{31B43BAB-E8A6-4BC8-BC97-6E48E728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DECODIFICAÇÃO PELA UC</a:t>
            </a:r>
          </a:p>
        </p:txBody>
      </p:sp>
      <p:sp>
        <p:nvSpPr>
          <p:cNvPr id="6" name="decoded">
            <a:extLst xmlns:a="http://schemas.openxmlformats.org/drawingml/2006/main">
              <a:ext uri="{FF2B5EF4-FFF2-40B4-BE49-F238E27FC236}">
                <a16:creationId xmlns:a16="http://schemas.microsoft.com/office/drawing/2014/main" id="{5481C210-2582-4A67-9926-42AE56EA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Operação: somar     Origens: R1 e R2     Destino: R3</a:t>
            </a:r>
          </a:p>
        </p:txBody>
      </p:sp>
    </p:spTree>
    <p:extLst>
      <p:ext uri="{BB962C8B-B14F-4D97-AF65-F5344CB8AC3E}">
        <p14:creationId xmlns:p14="http://schemas.microsoft.com/office/powerpoint/2010/main" val="10482411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44569933-C6BB-4336-93C4-D1B85F63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Execução e gravação do resultado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14424FF-8C57-49A1-A034-88B748EA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3" name="calc">
            <a:extLst xmlns:a="http://schemas.openxmlformats.org/drawingml/2006/main">
              <a:ext uri="{FF2B5EF4-FFF2-40B4-BE49-F238E27FC236}">
                <a16:creationId xmlns:a16="http://schemas.microsoft.com/office/drawing/2014/main" id="{08B30833-EC9C-45B2-BF04-4105CAC2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ULA</a:t>
            </a:r>
          </a:p>
        </p:txBody>
      </p:sp>
      <p:sp>
        <p:nvSpPr>
          <p:cNvPr id="4" name="operation">
            <a:extLst xmlns:a="http://schemas.openxmlformats.org/drawingml/2006/main">
              <a:ext uri="{FF2B5EF4-FFF2-40B4-BE49-F238E27FC236}">
                <a16:creationId xmlns:a16="http://schemas.microsoft.com/office/drawing/2014/main" id="{370911D7-C4E5-4E83-BF87-2591644C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5 + 3 = 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CAB12-0C47-45D4-B12A-6F8BC8B599E9}"/>
              </a:ext>
            </a:extLst>
          </p:cNvPr>
          <p:cNvGraphicFramePr/>
          <p:nvPr/>
        </p:nvGraphicFramePr>
        <p:xfrm>
          <a:off xmlns:a="http://schemas.openxmlformats.org/drawingml/2006/main" x="609600" y="3714750"/>
          <a:ext xmlns:a="http://schemas.openxmlformats.org/drawingml/2006/main" cx="10858500" cy="1238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1905000"/>
                <a:gridCol w="1905000"/>
                <a:gridCol w="1905000"/>
                <a:gridCol w="1905000"/>
              </a:tblGrid>
              <a:tr h="619125"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Estado final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456079"/>
                      </a:solidFill>
                      <a:prstDash val="soli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</a:tr>
              <a:tr h="619125"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Após a soma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456079"/>
                      </a:solidFill>
                      <a:prstDash val="soli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456079"/>
                      </a:solidFill>
                      <a:prstDash val="solid"/>
                    </a:lnR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</a:tr>
            </a:tbl>
          </a:graphicData>
        </a:graphic>
      </p:graphicFrame>
      <p:sp>
        <p:nvSpPr>
          <p:cNvPr id="6" name="write">
            <a:extLst xmlns:a="http://schemas.openxmlformats.org/drawingml/2006/main">
              <a:ext uri="{FF2B5EF4-FFF2-40B4-BE49-F238E27FC236}">
                <a16:creationId xmlns:a16="http://schemas.microsoft.com/office/drawing/2014/main" id="{D774996B-E26B-4110-A5A4-9B0D1354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A UC coordena a escrita de 8 no registrador R3.</a:t>
            </a:r>
          </a:p>
        </p:txBody>
      </p:sp>
      <p:sp>
        <p:nvSpPr>
          <p:cNvPr id="7" name="ram">
            <a:extLst xmlns:a="http://schemas.openxmlformats.org/drawingml/2006/main">
              <a:ext uri="{FF2B5EF4-FFF2-40B4-BE49-F238E27FC236}">
                <a16:creationId xmlns:a16="http://schemas.microsoft.com/office/drawing/2014/main" id="{F52AFB55-9FBA-473B-81A0-96B70CDB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Neste exemplo, o resultado permanece em R3.</a:t>
            </a:r>
          </a:p>
        </p:txBody>
      </p:sp>
    </p:spTree>
    <p:extLst>
      <p:ext uri="{BB962C8B-B14F-4D97-AF65-F5344CB8AC3E}">
        <p14:creationId xmlns:p14="http://schemas.microsoft.com/office/powerpoint/2010/main" val="10094391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54E9DD06-55FD-4789-9A43-4AEDAE42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Verificação da aprendizagem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83DDA568-3D97-4A39-9A3F-92746247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3" name="code">
            <a:extLst xmlns:a="http://schemas.openxmlformats.org/drawingml/2006/main">
              <a:ext uri="{FF2B5EF4-FFF2-40B4-BE49-F238E27FC236}">
                <a16:creationId xmlns:a16="http://schemas.microsoft.com/office/drawing/2014/main" id="{7BA5B1BA-5DCD-4A87-95CA-4672EF45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85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rPr>
              <a:t>ADD R3, R1, R2</a:t>
            </a:r>
          </a:p>
        </p:txBody>
      </p:sp>
      <p:sp>
        <p:nvSpPr>
          <p:cNvPr id="4" name="state">
            <a:extLst xmlns:a="http://schemas.openxmlformats.org/drawingml/2006/main">
              <a:ext uri="{FF2B5EF4-FFF2-40B4-BE49-F238E27FC236}">
                <a16:creationId xmlns:a16="http://schemas.microsoft.com/office/drawing/2014/main" id="{15B0534E-1AF9-4651-AF85-2CCDF0B4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Estado inicial: R1 = 9, R2 = 4 e R3 = 0</a:t>
            </a:r>
          </a:p>
        </p:txBody>
      </p:sp>
      <p:sp>
        <p:nvSpPr>
          <p:cNvPr id="5" name="q1">
            <a:extLst xmlns:a="http://schemas.openxmlformats.org/drawingml/2006/main">
              <a:ext uri="{FF2B5EF4-FFF2-40B4-BE49-F238E27FC236}">
                <a16:creationId xmlns:a16="http://schemas.microsoft.com/office/drawing/2014/main" id="{A548A044-2C29-4D96-82DA-635F6E8E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01   Qual será o valor final de R3?</a:t>
            </a:r>
          </a:p>
        </p:txBody>
      </p:sp>
      <p:sp>
        <p:nvSpPr>
          <p:cNvPr id="6" name="q2">
            <a:extLst xmlns:a="http://schemas.openxmlformats.org/drawingml/2006/main">
              <a:ext uri="{FF2B5EF4-FFF2-40B4-BE49-F238E27FC236}">
                <a16:creationId xmlns:a16="http://schemas.microsoft.com/office/drawing/2014/main" id="{D9686839-AD1D-4920-A4B0-4907F7AC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02   Quem realiza a soma e quem coordena a escrita?</a:t>
            </a:r>
          </a:p>
        </p:txBody>
      </p:sp>
      <p:sp>
        <p:nvSpPr>
          <p:cNvPr id="7" name="q3">
            <a:extLst xmlns:a="http://schemas.openxmlformats.org/drawingml/2006/main">
              <a:ext uri="{FF2B5EF4-FFF2-40B4-BE49-F238E27FC236}">
                <a16:creationId xmlns:a16="http://schemas.microsoft.com/office/drawing/2014/main" id="{E5A5D5FF-16CD-4392-907B-43BA47A8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03   Onde o resultado permanece neste modelo?</a:t>
            </a:r>
          </a:p>
        </p:txBody>
      </p:sp>
    </p:spTree>
    <p:extLst>
      <p:ext uri="{BB962C8B-B14F-4D97-AF65-F5344CB8AC3E}">
        <p14:creationId xmlns:p14="http://schemas.microsoft.com/office/powerpoint/2010/main" val="1383370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2026-10-20T19:45:00.2470000Z</dcterms:created>
  <dcterms:modified xsi:type="dcterms:W3CDTF">2026-10-20T19:45:00.2470000Z</dcterms:modified>
</coreProperties>
</file>
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60" r:id="rId5"/>
    <p:sldId id="261" r:id="rId6"/>
    <p:sldId id="263" r:id="rId7"/>
    <p:sldId id="269" r:id="rId8"/>
    <p:sldId id="265" r:id="rId9"/>
    <p:sldId id="266" r:id="rId10"/>
    <p:sldId id="267" r:id="rId11"/>
    <p:sldId id="268" r:id="rId12"/>
    <p:sldId id="272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EF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691" y="-9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0:00 a 0:40. Público: estudantes iniciantes de graduação. Pré-requisito: uso básico do navegador e de arquivos. Objetivo: ao final, identificar as funções de HTML, CSS e JavaScript e relacionar um clique à atualização de conteúdo. Abertura: Ao visitar uma página, como o navegador sabe o que mostrar, como apresentar e como responder a um clique? Vamos investigar essas funções em uma única página.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0:40 a 1:30. Site é um conjunto organizado de páginas e recursos, geralmente sob um mesmo domínio. Pode conter apenas uma página. Uma página é um documento que o navegador apresenta ao usuário. Internet é a infraestrutura de redes; a Web é um serviço que a utiliza. Não desenvolver essa distinção além de uma frase. O exemplo será uma página de divulgação de oficina, executada localmente. Um arquivo local permite testar uma página sem publicá-la na Web.</a:t>
            </a:r>
          </a:p>
          <a:p>
            <a:endParaRPr/>
          </a:p>
          <a:p>
            <a:r>
              <a:t>Referências: https://developer.mozilla.org/pt-BR/docs/Learn_web_development/Core/Structuring_content/Structuring_documents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2:30 a 3:20. Front-end é a parte da aplicação com a qual o usuário interage. Neste exemplo, o navegador interpreta HTML e CSS e executa JavaScript. HTML define estrutura e significado; CSS controla a apresentação; JavaScript programa o comportamento. Não afirmar que todo clique requer JavaScript: links e controles nativos já têm comportamentos do navegador. O nosso clique atualizará uma mensagem por JavaScript. Não há back-end, banco de dados ou envio de informações neste exemplo.</a:t>
            </a:r>
          </a:p>
          <a:p>
            <a:endParaRPr/>
          </a:p>
          <a:p>
            <a:r>
              <a:t>Referências: https://developer.mozilla.org/pt-BR/docs/Web/HTML</a:t>
            </a:r>
          </a:p>
          <a:p>
            <a:r>
              <a:t>https://developer.mozilla.org/pt-BR/docs/Web/CSS</a:t>
            </a:r>
          </a:p>
          <a:p>
            <a:r>
              <a:t>https://developer.mozilla.org/pt-BR/docs/Web/JavaScript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3:20 a 4:10. HTML significa HyperText Markup Language, linguagem de marcação de hipertexto. Um elemento pode ter tag de abertura, conteúdo e tag de fechamento. h2 indica um título de seção, não apenas uma fonte grande. O id identifica um elemento de forma única na página e pode ser usado por CSS, JavaScript e links internos. O documento completo tem doctype, html com idioma, head e body. head não é header. Nem todo elemento possui fechamento: meta e link são elementos vazios.</a:t>
            </a:r>
          </a:p>
          <a:p>
            <a:endParaRPr/>
          </a:p>
          <a:p>
            <a:r>
              <a:t>Referências: https://developer.mozilla.org/pt-BR/docs/Web/HTML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4:10 a 4:50. O documento inicia com a declaração do tipo HTML. html envolve o documento e informa o idioma. head reúne metadados, título da aba e referências aos arquivos. body contém o conteúdo da página. Diferenciar head de header. O código completo inclui charset e viewport.</a:t>
            </a:r>
          </a:p>
          <a:p>
            <a:endParaRPr/>
          </a:p>
          <a:p>
            <a:r>
              <a:t>Referências: https://developer.mozilla.org/pt-BR/docs/Web/HTML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6:00 a 6:50. CSS significa Cascading Style Sheets, folhas de estilo em cascata. Uma regra contém seletor e declarações. O seletor button escolhe os elementos de botão, background é uma propriedade e #0e7490 é um valor de cor hexadecimal. O arquivo HTML referencia a folha externa com link. A cascata resolve quais declarações se aplicam quando há diferentes regras; não aprofundar especificidade em 15 minutos. CSS também permite layout, responsividade e animações. Neste recorte, destacar cores e espaçamento.</a:t>
            </a:r>
          </a:p>
          <a:p>
            <a:endParaRPr/>
          </a:p>
          <a:p>
            <a:r>
              <a:t>Referências: https://developer.mozilla.org/pt-BR/docs/Web/CSS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6:00 a 6:50. CSS significa Cascading Style Sheets, folhas de estilo em cascata. Uma regra contém seletor e declarações. O seletor button escolhe os elementos de botão, background é uma propriedade e #0e7490 é um valor de cor hexadecimal. O arquivo HTML referencia a folha externa com link. A cascata resolve quais declarações se aplicam quando há diferentes regras; não aprofundar especificidade em 15 minutos. CSS também permite layout, responsividade e animações. Neste recorte, destacar cores e espaçamento.</a:t>
            </a:r>
          </a:p>
          <a:p>
            <a:endParaRPr/>
          </a:p>
          <a:p>
            <a:r>
              <a:t>Referências: https://developer.mozilla.org/pt-BR/docs/Web/CSS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8:20 a 9:10. JavaScript é uma linguagem de programação. No navegador, pode usar o DOM para acessar e atualizar elementos da página. DOM é a representação do documento em objetos. Vamos selecionar o botão e o parágrafo, escutar o evento click e atualizar o texto. Distinguir evento de ação: o usuário clica, a função responde e a mensagem muda. JavaScript também pode executar fora do navegador; manter o foco no front-end.</a:t>
            </a:r>
          </a:p>
          <a:p>
            <a:endParaRPr/>
          </a:p>
          <a:p>
            <a:r>
              <a:t>Referências: https://developer.mozilla.org/pt-BR/docs/Web/JavaScript</a:t>
            </a:r>
          </a:p>
          <a:p>
            <a:r>
              <a:t>https://developer.mozilla.org/pt-BR/docs/Web/API/Document_Object_Model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9:10 a 12:10. Abrir script.js no VS Code e explicar por blocos. document.querySelector usa seletor CSS: #botao procura o id botao. const guarda referências aos elementos. addEventListener registra a função que será chamada quando o evento ocorrer. textContent atualiza texto sem interpretar marcação HTML. A função de seta é o código de resposta ao clique. Depois mostrar script src com defer no HTML: o script externo executa após o documento ser analisado. Abrir index.html no navegador, clicar e verificar a mensagem. Pressionar Tab até o botão e Enter se houver tempo. Pergunta antes do clique: qual arquivo controla a mensagem que vai aparecer? Este exemplo não faz inscrição real nem envia dados. Se a demonstração ao vivo falhar, o slide contém o código e a resposta esperada.</a:t>
            </a:r>
          </a:p>
          <a:p>
            <a:endParaRPr/>
          </a:p>
          <a:p>
            <a:r>
              <a:t>Referências: https://developer.mozilla.org/pt-BR/docs/Web/JavaScript</a:t>
            </a:r>
          </a:p>
          <a:p>
            <a:r>
              <a:t>https://developer.mozilla.org/pt-BR/docs/Web/API/EventTarget/addEventListener</a:t>
            </a:r>
          </a:p>
          <a:p>
            <a:r>
              <a:t>https://developer.mozilla.org/pt-BR/docs/Web/HTML/Reference/Elements/script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12:10 a 13:00. O navegador lê index.html e encontra as referências a style.css e script.js. Os arquivos estão na mesma pasta, por isso os caminhos são relativos e curtos. O atributo defer no script externo adia a execução até que o HTML tenha sido analisado. O seletor #botao no JavaScript encontra o elemento com id botao. Reforçar que o VS Code edita os arquivos, enquanto o navegador executa a página.</a:t>
            </a:r>
          </a:p>
          <a:p>
            <a:endParaRPr/>
          </a:p>
          <a:p>
            <a:r>
              <a:t>Referências: https://developer.mozilla.org/pt-BR/docs/Web/HTML</a:t>
            </a:r>
          </a:p>
          <a:p>
            <a:r>
              <a:t>https://developer.mozilla.org/pt-BR/docs/Web/CSS</a:t>
            </a:r>
          </a:p>
          <a:p>
            <a:r>
              <a:t>https://developer.mozilla.org/pt-BR/docs/Web/HTML/Reference/Elements/script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13:00 a 14:30. Propor as três situações e pedir uma resposta breve. As respostas estão nas notas, para não antecipar a avaliação. 1. Alterar o texto inicial do título: HTML, neste exemplo. 2. Mudar a cor do botão: CSS. 3. Exibir outra mensagem após um clique: JavaScript. Explicar que JavaScript também pode mudar texto e estilo em execução; aqui classificamos a responsabilidade principal no exemplo. Síntese final: a marcação organiza, a folha de estilos apresenta e o script programa a interação. Encerrar até 14:30, deixando 30 segundos para transições. Referências de apoio: documentação MDN, consultada em 20/10/2026.</a:t>
            </a:r>
          </a:p>
          <a:p>
            <a:endParaRPr/>
          </a:p>
          <a:p>
            <a:r>
              <a:t>Referências: https://developer.mozilla.org/pt-BR/docs/Web/HTML</a:t>
            </a:r>
          </a:p>
          <a:p>
            <a:r>
              <a:t>https://developer.mozilla.org/pt-BR/docs/Web/CSS</a:t>
            </a:r>
          </a:p>
          <a:p>
            <a:r>
              <a:t>https://developer.mozilla.org/pt-BR/docs/Web/JavaScript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13:00 a 14:30. Propor as três situações e pedir uma resposta breve. As respostas estão nas notas, para não antecipar a avaliação. 1. Alterar o texto inicial do título: HTML, neste exemplo. 2. Mudar a cor do botão: CSS. 3. Exibir outra mensagem após um clique: JavaScript. Explicar que JavaScript também pode mudar texto e estilo em execução; aqui classificamos a responsabilidade principal no exemplo. Síntese final: a marcação organiza, a folha de estilos apresenta e o script programa a interação. Encerrar até 14:30, deixando 30 segundos para transições. Referências de apoio: documentação MDN, consultada em 20/10/2026.</a:t>
            </a:r>
          </a:p>
          <a:p>
            <a:endParaRPr/>
          </a:p>
          <a:p>
            <a:r>
              <a:t>Referências: https://developer.mozilla.org/pt-BR/docs/Web/HTML</a:t>
            </a:r>
          </a:p>
          <a:p>
            <a:r>
              <a:t>https://developer.mozilla.org/pt-BR/docs/Web/CSS</a:t>
            </a:r>
          </a:p>
          <a:p>
            <a:r>
              <a:t>https://developer.mozilla.org/pt-BR/docs/Web/JavaScript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xmlns="" id="{F4900870-A8EE-42D6-B176-044DAF885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xmlns="" id="{C126B172-D7C3-44CC-AB3A-E48E2997FC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xmlns="" id="{83934CFD-B200-4694-9F74-FD6AE4BD4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xmlns="" id="{853B72C4-2C8D-4F55-B8A3-CA6679047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xmlns="" id="{D6C80DFF-6F9F-4545-AC98-0992174F94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xmlns="" id="{C0A1E4FE-64A4-4CD8-956E-6492B38B9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xmlns="" id="{4C26436E-C0EE-42D2-B73A-150FDFB81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xmlns="" id="{0BB708B0-698E-42C2-BF1A-B261A635964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xmlns="" id="{A6D0DA0B-E6D0-4C7E-B3D7-BE548DAB5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xmlns="" id="{D70694F0-5775-43C1-B335-B957C6F69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html.spec.whatwg.org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developer.mozilla.org/pt-BR/docs/Learn_web_development" TargetMode="External"/><Relationship Id="rId5" Type="http://schemas.openxmlformats.org/officeDocument/2006/relationships/hyperlink" Target="https://ecma-international.org/publications-and-standards/standards/ecma-262/" TargetMode="External"/><Relationship Id="rId4" Type="http://schemas.openxmlformats.org/officeDocument/2006/relationships/hyperlink" Target="https://www.w3.org/Style/CSS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ading">
            <a:extLst>
              <a:ext uri="{FF2B5EF4-FFF2-40B4-BE49-F238E27FC236}">
                <a16:creationId xmlns:a16="http://schemas.microsoft.com/office/drawing/2014/main" xmlns="" id="{E1035A23-796B-4472-B7B6-D0EAE2BD4A79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Tecnologias para Internet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xmlns="" id="{08B38101-2A3E-459F-853E-3795D74175BD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main-title">
            <a:extLst>
              <a:ext uri="{FF2B5EF4-FFF2-40B4-BE49-F238E27FC236}">
                <a16:creationId xmlns:a16="http://schemas.microsoft.com/office/drawing/2014/main" xmlns="" id="{EF7C45E8-6B8E-4D85-9EFA-A871C3FB121F}"/>
              </a:ext>
            </a:extLst>
          </p:cNvPr>
          <p:cNvSpPr>
            <a:spLocks noGrp="1"/>
          </p:cNvSpPr>
          <p:nvPr/>
        </p:nvSpPr>
        <p:spPr>
          <a:xfrm>
            <a:off x="309522" y="1142984"/>
            <a:ext cx="11572956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54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54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54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54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54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54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54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54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54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54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defRPr sz="54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Fundamentos </a:t>
            </a:r>
            <a:r>
              <a:rPr sz="5400" b="1" smtClean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de</a:t>
            </a:r>
            <a:r>
              <a:rPr lang="pt-BR" sz="5400" b="1" dirty="0" smtClean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5400" b="1" smtClean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Front-end</a:t>
            </a:r>
            <a:endParaRPr sz="5400" b="1">
              <a:solidFill>
                <a:srgbClr val="F7FA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7" name="objective">
            <a:extLst>
              <a:ext uri="{FF2B5EF4-FFF2-40B4-BE49-F238E27FC236}">
                <a16:creationId xmlns:a16="http://schemas.microsoft.com/office/drawing/2014/main" xmlns="" id="{E3DB2971-607B-42C5-ADDB-D08000755050}"/>
              </a:ext>
            </a:extLst>
          </p:cNvPr>
          <p:cNvSpPr>
            <a:spLocks noGrp="1"/>
          </p:cNvSpPr>
          <p:nvPr/>
        </p:nvSpPr>
        <p:spPr>
          <a:xfrm>
            <a:off x="452398" y="5286388"/>
            <a:ext cx="11272878" cy="452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Objetivo: reconhecer o papel de cada </a:t>
            </a:r>
            <a:r>
              <a:rPr sz="2100" b="0" smtClean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tecnologia</a:t>
            </a:r>
            <a:r>
              <a:rPr lang="pt-BR" sz="2100" b="0" dirty="0" smtClean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0" smtClean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e </a:t>
            </a:r>
            <a:r>
              <a: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acompanhar sua integração em uma página.</a:t>
            </a:r>
          </a:p>
        </p:txBody>
      </p:sp>
      <p:sp>
        <p:nvSpPr>
          <p:cNvPr id="8" name="author">
            <a:extLst>
              <a:ext uri="{FF2B5EF4-FFF2-40B4-BE49-F238E27FC236}">
                <a16:creationId xmlns:a16="http://schemas.microsoft.com/office/drawing/2014/main" xmlns="" id="{37AC8713-B396-4F5C-91D4-379A42B6D03F}"/>
              </a:ext>
            </a:extLst>
          </p:cNvPr>
          <p:cNvSpPr>
            <a:spLocks noGrp="1"/>
          </p:cNvSpPr>
          <p:nvPr/>
        </p:nvSpPr>
        <p:spPr>
          <a:xfrm>
            <a:off x="1595406" y="6000768"/>
            <a:ext cx="9715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Prof.ª Giulianie Aparecida Machado Ferreira</a:t>
            </a:r>
          </a:p>
        </p:txBody>
      </p:sp>
      <p:pic>
        <p:nvPicPr>
          <p:cNvPr id="10" name="Imagem 9" descr="Logo CSS3 em escudo azul-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95802" y="2428868"/>
            <a:ext cx="2286016" cy="2438543"/>
          </a:xfrm>
          <a:prstGeom prst="rect">
            <a:avLst/>
          </a:prstGeom>
        </p:spPr>
      </p:pic>
      <p:pic>
        <p:nvPicPr>
          <p:cNvPr id="11" name="Imagem 10" descr="Logo HTML5 em escudo laranja-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238216" y="2428868"/>
            <a:ext cx="1928826" cy="2314591"/>
          </a:xfrm>
          <a:prstGeom prst="rect">
            <a:avLst/>
          </a:prstGeom>
        </p:spPr>
      </p:pic>
      <p:pic>
        <p:nvPicPr>
          <p:cNvPr id="12" name="Imagem 11" descr="Logo JavaScript amarelo com letras JS-3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167702" y="2214554"/>
            <a:ext cx="2571768" cy="2672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94569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ading">
            <a:extLst>
              <a:ext uri="{FF2B5EF4-FFF2-40B4-BE49-F238E27FC236}">
                <a16:creationId xmlns:a16="http://schemas.microsoft.com/office/drawing/2014/main" xmlns="" id="{67DE51B7-6468-4139-8E7A-9332E694BA8E}"/>
              </a:ext>
            </a:extLst>
          </p:cNvPr>
          <p:cNvSpPr>
            <a:spLocks noGrp="1"/>
          </p:cNvSpPr>
          <p:nvPr/>
        </p:nvSpPr>
        <p:spPr>
          <a:xfrm>
            <a:off x="309522" y="642918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lang="pt-BR" sz="3150" b="1" dirty="0" smtClean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O QUE É UM SITE?</a:t>
            </a:r>
            <a:endParaRPr sz="3150" b="1">
              <a:solidFill>
                <a:srgbClr val="F7FA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xmlns="" id="{CDD08345-0AD8-4C32-A8D5-A91969658C05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definition">
            <a:extLst>
              <a:ext uri="{FF2B5EF4-FFF2-40B4-BE49-F238E27FC236}">
                <a16:creationId xmlns:a16="http://schemas.microsoft.com/office/drawing/2014/main" xmlns="" id="{0D9260F9-0491-4E15-80AC-78E4B4839954}"/>
              </a:ext>
            </a:extLst>
          </p:cNvPr>
          <p:cNvSpPr>
            <a:spLocks noGrp="1"/>
          </p:cNvSpPr>
          <p:nvPr/>
        </p:nvSpPr>
        <p:spPr>
          <a:xfrm>
            <a:off x="309522" y="1571612"/>
            <a:ext cx="1143008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Um conjunto organizado de páginas e </a:t>
            </a:r>
            <a:r>
              <a:rPr sz="2400" b="0" smtClean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recursos</a:t>
            </a:r>
            <a:r>
              <a:rPr lang="pt-BR" sz="2400" b="0" dirty="0" smtClean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400" b="0" smtClean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que </a:t>
            </a:r>
            <a:r>
              <a: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o navegador </a:t>
            </a:r>
            <a:r>
              <a:rPr sz="2400" b="0" smtClean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permite acessar</a:t>
            </a:r>
            <a:endParaRPr lang="pt-BR" sz="2400" b="0" dirty="0" smtClean="0">
              <a:solidFill>
                <a:srgbClr val="F7FAFF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lang="pt-BR" sz="2400" dirty="0" smtClean="0"/>
              <a:t>unidas por um nome de domínio comum e exibidas por meio de servidores.</a:t>
            </a:r>
          </a:p>
          <a:p>
            <a: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lang="pt-BR" sz="2400" dirty="0" smtClean="0"/>
              <a:t> </a:t>
            </a:r>
          </a:p>
          <a:p>
            <a: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lang="pt-BR" sz="2400" dirty="0" smtClean="0"/>
              <a:t>É essencialmente o "lar" de todas as informações que você deseja divulgar na internet. </a:t>
            </a:r>
            <a:endParaRPr sz="2400" b="0">
              <a:solidFill>
                <a:srgbClr val="F7FA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site-example">
            <a:extLst>
              <a:ext uri="{FF2B5EF4-FFF2-40B4-BE49-F238E27FC236}">
                <a16:creationId xmlns:a16="http://schemas.microsoft.com/office/drawing/2014/main" xmlns="" id="{1CF7B990-5A8A-4629-BE6B-63723B25FF84}"/>
              </a:ext>
            </a:extLst>
          </p:cNvPr>
          <p:cNvSpPr>
            <a:spLocks noGrp="1"/>
          </p:cNvSpPr>
          <p:nvPr/>
        </p:nvSpPr>
        <p:spPr>
          <a:xfrm>
            <a:off x="595274" y="3929066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65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65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78C5FF"/>
                </a:solidFill>
                <a:latin typeface="DejaVu Sans"/>
                <a:ea typeface="DejaVu Sans"/>
                <a:cs typeface="DejaVu Sans"/>
              </a:rPr>
              <a:t>SITE</a:t>
            </a:r>
          </a:p>
        </p:txBody>
      </p:sp>
      <p:sp>
        <p:nvSpPr>
          <p:cNvPr id="5" name="site-description">
            <a:extLst>
              <a:ext uri="{FF2B5EF4-FFF2-40B4-BE49-F238E27FC236}">
                <a16:creationId xmlns:a16="http://schemas.microsoft.com/office/drawing/2014/main" xmlns="" id="{6EABF31C-C2E0-4A6A-B87D-2C4E48696122}"/>
              </a:ext>
            </a:extLst>
          </p:cNvPr>
          <p:cNvSpPr>
            <a:spLocks noGrp="1"/>
          </p:cNvSpPr>
          <p:nvPr/>
        </p:nvSpPr>
        <p:spPr>
          <a:xfrm>
            <a:off x="595274" y="4429132"/>
            <a:ext cx="6191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Portal de uma instituição</a:t>
            </a:r>
          </a:p>
        </p:txBody>
      </p:sp>
      <p:sp>
        <p:nvSpPr>
          <p:cNvPr id="6" name="page-example">
            <a:extLst>
              <a:ext uri="{FF2B5EF4-FFF2-40B4-BE49-F238E27FC236}">
                <a16:creationId xmlns:a16="http://schemas.microsoft.com/office/drawing/2014/main" xmlns="" id="{6CC1FB99-8E4A-4F6F-8222-BB95A50D8E55}"/>
              </a:ext>
            </a:extLst>
          </p:cNvPr>
          <p:cNvSpPr>
            <a:spLocks noGrp="1"/>
          </p:cNvSpPr>
          <p:nvPr/>
        </p:nvSpPr>
        <p:spPr>
          <a:xfrm>
            <a:off x="7310446" y="3643314"/>
            <a:ext cx="381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65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65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PÁGINAS</a:t>
            </a:r>
          </a:p>
        </p:txBody>
      </p:sp>
      <p:sp>
        <p:nvSpPr>
          <p:cNvPr id="7" name="page-description">
            <a:extLst>
              <a:ext uri="{FF2B5EF4-FFF2-40B4-BE49-F238E27FC236}">
                <a16:creationId xmlns:a16="http://schemas.microsoft.com/office/drawing/2014/main" xmlns="" id="{0CAD0112-B5FA-489E-B839-DC3106CFC69F}"/>
              </a:ext>
            </a:extLst>
          </p:cNvPr>
          <p:cNvSpPr>
            <a:spLocks noGrp="1"/>
          </p:cNvSpPr>
          <p:nvPr/>
        </p:nvSpPr>
        <p:spPr>
          <a:xfrm>
            <a:off x="7239000" y="4071941"/>
            <a:ext cx="4286250" cy="13477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Início</a:t>
            </a:r>
          </a:p>
          <a:p>
            <a: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Cursos</a:t>
            </a:r>
          </a:p>
          <a:p>
            <a: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Contato</a:t>
            </a:r>
          </a:p>
        </p:txBody>
      </p:sp>
      <p:sp>
        <p:nvSpPr>
          <p:cNvPr id="8" name="distinction">
            <a:extLst>
              <a:ext uri="{FF2B5EF4-FFF2-40B4-BE49-F238E27FC236}">
                <a16:creationId xmlns:a16="http://schemas.microsoft.com/office/drawing/2014/main" xmlns="" id="{1FCC58AD-275B-403A-A4DE-90B6FF66FA15}"/>
              </a:ext>
            </a:extLst>
          </p:cNvPr>
          <p:cNvSpPr>
            <a:spLocks noGrp="1"/>
          </p:cNvSpPr>
          <p:nvPr/>
        </p:nvSpPr>
        <p:spPr>
          <a:xfrm>
            <a:off x="380960" y="557214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Uma página é parte de um site. Um site também pode ter uma única página.</a:t>
            </a:r>
          </a:p>
        </p:txBody>
      </p:sp>
      <p:pic>
        <p:nvPicPr>
          <p:cNvPr id="10" name="Imagem 9" descr="Logo CSS3 em escudo azul-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435713" y="5288298"/>
            <a:ext cx="1471520" cy="1569702"/>
          </a:xfrm>
          <a:prstGeom prst="rect">
            <a:avLst/>
          </a:prstGeom>
        </p:spPr>
      </p:pic>
      <p:pic>
        <p:nvPicPr>
          <p:cNvPr id="11" name="Imagem 10" descr="Logo HTML5 em escudo laranja-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262952" y="5286388"/>
            <a:ext cx="1308085" cy="1569702"/>
          </a:xfrm>
          <a:prstGeom prst="rect">
            <a:avLst/>
          </a:prstGeom>
        </p:spPr>
      </p:pic>
      <p:pic>
        <p:nvPicPr>
          <p:cNvPr id="12" name="Imagem 11" descr="Logo JavaScript amarelo com letras JS-3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0681254" y="5216884"/>
            <a:ext cx="1510746" cy="1569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76360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heading">
            <a:extLst>
              <a:ext uri="{FF2B5EF4-FFF2-40B4-BE49-F238E27FC236}">
                <a16:creationId xmlns:a16="http://schemas.microsoft.com/office/drawing/2014/main" xmlns="" id="{9B7E0ABB-EA72-4DE5-ABB8-3BADD1DFC5B5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O que é Front-end?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xmlns="" id="{8B834980-BB61-4B89-85EC-2C0B07773FDF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" name="definition">
            <a:extLst>
              <a:ext uri="{FF2B5EF4-FFF2-40B4-BE49-F238E27FC236}">
                <a16:creationId xmlns:a16="http://schemas.microsoft.com/office/drawing/2014/main" xmlns="" id="{3B47818B-D8A1-4273-8C35-C64121B32498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10953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A interface com a qual o usuário interage.</a:t>
            </a:r>
          </a:p>
        </p:txBody>
      </p:sp>
      <p:sp>
        <p:nvSpPr>
          <p:cNvPr id="4" name="html">
            <a:extLst>
              <a:ext uri="{FF2B5EF4-FFF2-40B4-BE49-F238E27FC236}">
                <a16:creationId xmlns:a16="http://schemas.microsoft.com/office/drawing/2014/main" xmlns="" id="{28D1600E-C240-4EA4-8575-026D3CE5ED1E}"/>
              </a:ext>
            </a:extLst>
          </p:cNvPr>
          <p:cNvSpPr>
            <a:spLocks noGrp="1"/>
          </p:cNvSpPr>
          <p:nvPr/>
        </p:nvSpPr>
        <p:spPr>
          <a:xfrm>
            <a:off x="609600" y="2914650"/>
            <a:ext cx="2952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36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6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6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6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6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6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6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6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6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6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6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HTML</a:t>
            </a:r>
          </a:p>
        </p:txBody>
      </p:sp>
      <p:sp>
        <p:nvSpPr>
          <p:cNvPr id="5" name="html-desc">
            <a:extLst>
              <a:ext uri="{FF2B5EF4-FFF2-40B4-BE49-F238E27FC236}">
                <a16:creationId xmlns:a16="http://schemas.microsoft.com/office/drawing/2014/main" xmlns="" id="{79C8ABE9-78CD-4415-8FB8-399CD258E673}"/>
              </a:ext>
            </a:extLst>
          </p:cNvPr>
          <p:cNvSpPr>
            <a:spLocks noGrp="1"/>
          </p:cNvSpPr>
          <p:nvPr/>
        </p:nvSpPr>
        <p:spPr>
          <a:xfrm>
            <a:off x="609600" y="3752850"/>
            <a:ext cx="3048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Estrutura e significado</a:t>
            </a:r>
          </a:p>
          <a:p>
            <a: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do conteúdo</a:t>
            </a:r>
          </a:p>
        </p:txBody>
      </p:sp>
      <p:sp>
        <p:nvSpPr>
          <p:cNvPr id="6" name="css">
            <a:extLst>
              <a:ext uri="{FF2B5EF4-FFF2-40B4-BE49-F238E27FC236}">
                <a16:creationId xmlns:a16="http://schemas.microsoft.com/office/drawing/2014/main" xmlns="" id="{F37E8A9A-E2DA-45BE-990C-762EF695EFE5}"/>
              </a:ext>
            </a:extLst>
          </p:cNvPr>
          <p:cNvSpPr>
            <a:spLocks noGrp="1"/>
          </p:cNvSpPr>
          <p:nvPr/>
        </p:nvSpPr>
        <p:spPr>
          <a:xfrm>
            <a:off x="4514850" y="2914650"/>
            <a:ext cx="2952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36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6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6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6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6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6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6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6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6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6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6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78C5FF"/>
                </a:solidFill>
                <a:latin typeface="DejaVu Sans"/>
                <a:ea typeface="DejaVu Sans"/>
                <a:cs typeface="DejaVu Sans"/>
              </a:rPr>
              <a:t>CSS</a:t>
            </a:r>
          </a:p>
        </p:txBody>
      </p:sp>
      <p:sp>
        <p:nvSpPr>
          <p:cNvPr id="7" name="css-desc">
            <a:extLst>
              <a:ext uri="{FF2B5EF4-FFF2-40B4-BE49-F238E27FC236}">
                <a16:creationId xmlns:a16="http://schemas.microsoft.com/office/drawing/2014/main" xmlns="" id="{88E204AB-818A-4F6D-9C92-DE0D93C740DB}"/>
              </a:ext>
            </a:extLst>
          </p:cNvPr>
          <p:cNvSpPr>
            <a:spLocks noGrp="1"/>
          </p:cNvSpPr>
          <p:nvPr/>
        </p:nvSpPr>
        <p:spPr>
          <a:xfrm>
            <a:off x="4514850" y="3752850"/>
            <a:ext cx="3048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Apresentação visual</a:t>
            </a:r>
          </a:p>
          <a:p>
            <a: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e organização</a:t>
            </a:r>
          </a:p>
        </p:txBody>
      </p:sp>
      <p:sp>
        <p:nvSpPr>
          <p:cNvPr id="8" name="js">
            <a:extLst>
              <a:ext uri="{FF2B5EF4-FFF2-40B4-BE49-F238E27FC236}">
                <a16:creationId xmlns:a16="http://schemas.microsoft.com/office/drawing/2014/main" xmlns="" id="{FD98FD75-1172-4838-A251-85702B158352}"/>
              </a:ext>
            </a:extLst>
          </p:cNvPr>
          <p:cNvSpPr>
            <a:spLocks noGrp="1"/>
          </p:cNvSpPr>
          <p:nvPr/>
        </p:nvSpPr>
        <p:spPr>
          <a:xfrm>
            <a:off x="8343900" y="2914650"/>
            <a:ext cx="333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33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3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E08A"/>
                </a:solidFill>
                <a:latin typeface="DejaVu Sans"/>
                <a:ea typeface="DejaVu Sans"/>
                <a:cs typeface="DejaVu Sans"/>
              </a:rPr>
              <a:t>JavaScript</a:t>
            </a:r>
          </a:p>
        </p:txBody>
      </p:sp>
      <p:sp>
        <p:nvSpPr>
          <p:cNvPr id="9" name="js-desc">
            <a:extLst>
              <a:ext uri="{FF2B5EF4-FFF2-40B4-BE49-F238E27FC236}">
                <a16:creationId xmlns:a16="http://schemas.microsoft.com/office/drawing/2014/main" xmlns="" id="{F3937A4F-1486-42C9-B16C-ED94E3A3CF59}"/>
              </a:ext>
            </a:extLst>
          </p:cNvPr>
          <p:cNvSpPr>
            <a:spLocks noGrp="1"/>
          </p:cNvSpPr>
          <p:nvPr/>
        </p:nvSpPr>
        <p:spPr>
          <a:xfrm>
            <a:off x="8343900" y="3752850"/>
            <a:ext cx="3238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Comportamento</a:t>
            </a:r>
          </a:p>
          <a:p>
            <a: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programado</a:t>
            </a:r>
          </a:p>
        </p:txBody>
      </p:sp>
      <p:pic>
        <p:nvPicPr>
          <p:cNvPr id="12" name="Imagem 11" descr="Logo CSS3 em escudo azul-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368743" y="5216860"/>
            <a:ext cx="1538490" cy="1641140"/>
          </a:xfrm>
          <a:prstGeom prst="rect">
            <a:avLst/>
          </a:prstGeom>
        </p:spPr>
      </p:pic>
      <p:pic>
        <p:nvPicPr>
          <p:cNvPr id="13" name="Imagem 12" descr="Logo HTML5 em escudo laranja-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203420" y="5214950"/>
            <a:ext cx="1367617" cy="1641140"/>
          </a:xfrm>
          <a:prstGeom prst="rect">
            <a:avLst/>
          </a:prstGeom>
        </p:spPr>
      </p:pic>
      <p:pic>
        <p:nvPicPr>
          <p:cNvPr id="14" name="Imagem 13" descr="Logo JavaScript amarelo com letras JS-3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0612498" y="5145446"/>
            <a:ext cx="1579501" cy="1641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80034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ading">
            <a:extLst>
              <a:ext uri="{FF2B5EF4-FFF2-40B4-BE49-F238E27FC236}">
                <a16:creationId xmlns:a16="http://schemas.microsoft.com/office/drawing/2014/main" xmlns="" id="{D87FD98F-435E-48AB-B29D-28685F418B8A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lang="pt-BR" sz="3600" dirty="0" smtClean="0">
                <a:solidFill>
                  <a:srgbClr val="FFAC83"/>
                </a:solidFill>
              </a:rPr>
              <a:t>HTML: Estrutura e significado</a:t>
            </a:r>
            <a:endParaRPr lang="pt-BR" sz="3600" dirty="0">
              <a:solidFill>
                <a:srgbClr val="FFAC83"/>
              </a:solidFill>
            </a:endParaRP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xmlns="" id="{E1EA775D-2936-4434-957C-20681AA1AC69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" name="concept">
            <a:extLst>
              <a:ext uri="{FF2B5EF4-FFF2-40B4-BE49-F238E27FC236}">
                <a16:creationId xmlns:a16="http://schemas.microsoft.com/office/drawing/2014/main" xmlns="" id="{016BA184-E45F-479D-B1D5-CC1C1B652877}"/>
              </a:ext>
            </a:extLst>
          </p:cNvPr>
          <p:cNvSpPr>
            <a:spLocks noGrp="1"/>
          </p:cNvSpPr>
          <p:nvPr/>
        </p:nvSpPr>
        <p:spPr>
          <a:xfrm>
            <a:off x="238084" y="1428736"/>
            <a:ext cx="9286940" cy="9286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4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r>
              <a:rPr lang="pt-BR" sz="2400" b="1" dirty="0" smtClean="0"/>
              <a:t>HTML — </a:t>
            </a:r>
            <a:r>
              <a:rPr lang="pt-BR" sz="2400" b="1" dirty="0" err="1" smtClean="0"/>
              <a:t>HyperText</a:t>
            </a:r>
            <a:r>
              <a:rPr lang="pt-BR" sz="2400" b="1" dirty="0" smtClean="0"/>
              <a:t> Markup </a:t>
            </a:r>
            <a:r>
              <a:rPr lang="pt-BR" sz="2400" b="1" dirty="0" err="1" smtClean="0"/>
              <a:t>Language</a:t>
            </a:r>
            <a:r>
              <a:rPr lang="pt-BR" sz="2400" dirty="0" smtClean="0"/>
              <a:t>, ou Linguagem de Marcação de Hipertexto.</a:t>
            </a:r>
          </a:p>
          <a:p>
            <a:endParaRPr lang="pt-BR" sz="2400" dirty="0" smtClean="0"/>
          </a:p>
          <a:p>
            <a:r>
              <a:rPr lang="pt-BR" sz="2400" dirty="0" smtClean="0"/>
              <a:t>É uma </a:t>
            </a:r>
            <a:r>
              <a:rPr lang="pt-BR" sz="2400" b="1" dirty="0" smtClean="0"/>
              <a:t>linguagem de marcação</a:t>
            </a:r>
            <a:r>
              <a:rPr lang="pt-BR" sz="2400" dirty="0" smtClean="0"/>
              <a:t>: identifica o significado e a organização dos conteúdos. </a:t>
            </a:r>
          </a:p>
          <a:p>
            <a:r>
              <a:rPr lang="pt-BR" sz="2400" dirty="0" smtClean="0"/>
              <a:t>Não é classificada como linguagem de programação.</a:t>
            </a:r>
            <a:endParaRPr lang="pt-BR" sz="2400" dirty="0"/>
          </a:p>
        </p:txBody>
      </p:sp>
      <p:pic>
        <p:nvPicPr>
          <p:cNvPr id="10" name="Imagem 9" descr="Logo HTML5 em escudo laranja-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025090" y="4543434"/>
            <a:ext cx="1928805" cy="2314566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523836" y="3286124"/>
            <a:ext cx="6096000" cy="310854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 sz="36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pPr>
            <a:r>
              <a:rPr lang="pt-BR" sz="2800" b="1" dirty="0" smtClean="0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&lt;!DOCTYPE </a:t>
            </a:r>
            <a:r>
              <a:rPr lang="pt-BR" sz="2800" b="1" dirty="0" err="1" smtClean="0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html</a:t>
            </a:r>
            <a:r>
              <a:rPr lang="pt-BR" sz="2800" b="1" dirty="0" smtClean="0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&gt;</a:t>
            </a:r>
          </a:p>
          <a:p>
            <a:pPr>
              <a:defRPr sz="36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pPr>
            <a:r>
              <a:rPr lang="pt-BR" sz="2800" b="1" dirty="0" smtClean="0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&lt;</a:t>
            </a:r>
            <a:r>
              <a:rPr lang="pt-BR" sz="2800" b="1" dirty="0" err="1" smtClean="0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html</a:t>
            </a:r>
            <a:r>
              <a:rPr lang="pt-BR" sz="2800" b="1" dirty="0" smtClean="0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 &gt;</a:t>
            </a:r>
          </a:p>
          <a:p>
            <a:pPr>
              <a:defRPr sz="36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pPr>
            <a:r>
              <a:rPr lang="pt-BR" sz="2800" b="1" dirty="0" smtClean="0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  &lt;</a:t>
            </a:r>
            <a:r>
              <a:rPr lang="pt-BR" sz="2800" b="1" dirty="0" err="1" smtClean="0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head</a:t>
            </a:r>
            <a:r>
              <a:rPr lang="pt-BR" sz="2800" b="1" dirty="0" smtClean="0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&gt;</a:t>
            </a:r>
          </a:p>
          <a:p>
            <a:pPr>
              <a:defRPr sz="36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pPr>
            <a:r>
              <a:rPr lang="pt-BR" sz="2800" b="1" dirty="0" smtClean="0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  &lt;/</a:t>
            </a:r>
            <a:r>
              <a:rPr lang="pt-BR" sz="2800" b="1" dirty="0" err="1" smtClean="0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head</a:t>
            </a:r>
            <a:r>
              <a:rPr lang="pt-BR" sz="2800" b="1" dirty="0" smtClean="0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&gt;</a:t>
            </a:r>
          </a:p>
          <a:p>
            <a:pPr>
              <a:defRPr sz="36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pPr>
            <a:r>
              <a:rPr lang="pt-BR" sz="2800" b="1" dirty="0" smtClean="0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  &lt;</a:t>
            </a:r>
            <a:r>
              <a:rPr lang="pt-BR" sz="2800" b="1" dirty="0" err="1" smtClean="0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body</a:t>
            </a:r>
            <a:r>
              <a:rPr lang="pt-BR" sz="2800" b="1" dirty="0" smtClean="0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&gt;</a:t>
            </a:r>
          </a:p>
          <a:p>
            <a:pPr>
              <a:defRPr sz="36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pPr>
            <a:r>
              <a:rPr lang="pt-BR" sz="2800" b="1" dirty="0" smtClean="0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  &lt;/</a:t>
            </a:r>
            <a:r>
              <a:rPr lang="pt-BR" sz="2800" b="1" dirty="0" err="1" smtClean="0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body</a:t>
            </a:r>
            <a:r>
              <a:rPr lang="pt-BR" sz="2800" b="1" dirty="0" smtClean="0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&gt;</a:t>
            </a:r>
          </a:p>
          <a:p>
            <a:pPr>
              <a:defRPr sz="36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pPr>
            <a:r>
              <a:rPr lang="pt-BR" sz="2800" b="1" dirty="0" smtClean="0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&lt;/</a:t>
            </a:r>
            <a:r>
              <a:rPr lang="pt-BR" sz="2800" b="1" dirty="0" err="1" smtClean="0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html</a:t>
            </a:r>
            <a:r>
              <a:rPr lang="pt-BR" sz="2800" b="1" dirty="0" smtClean="0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&gt;</a:t>
            </a:r>
            <a:endParaRPr lang="pt-BR" sz="2800" b="1" dirty="0">
              <a:solidFill>
                <a:srgbClr val="FFAC83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6543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ading">
            <a:extLst>
              <a:ext uri="{FF2B5EF4-FFF2-40B4-BE49-F238E27FC236}">
                <a16:creationId xmlns:a16="http://schemas.microsoft.com/office/drawing/2014/main" xmlns="" id="{0510DE6F-B322-4CCD-9E0D-5CE7329EBC19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Estrutura do documento HTML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xmlns="" id="{9A521A71-31D8-4BF1-8E74-D9113C331A70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3836" y="1214422"/>
            <a:ext cx="10913181" cy="5072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589244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ing">
            <a:extLst>
              <a:ext uri="{FF2B5EF4-FFF2-40B4-BE49-F238E27FC236}">
                <a16:creationId xmlns:a16="http://schemas.microsoft.com/office/drawing/2014/main" xmlns="" id="{CF77DDA4-7366-406E-9972-2A729A60C6B8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60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rPr>
              <a:t>CSS: </a:t>
            </a:r>
            <a:r>
              <a:rPr lang="pt-BR" sz="3600" dirty="0" smtClean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rPr>
              <a:t>A</a:t>
            </a:r>
            <a:r>
              <a:rPr sz="3600" smtClean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rPr>
              <a:t>presentação </a:t>
            </a:r>
            <a:r>
              <a:rPr sz="360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rPr>
              <a:t>da página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xmlns="" id="{74CEFADF-FECB-40EA-87D8-0B1B66163965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3" name="concept">
            <a:extLst>
              <a:ext uri="{FF2B5EF4-FFF2-40B4-BE49-F238E27FC236}">
                <a16:creationId xmlns:a16="http://schemas.microsoft.com/office/drawing/2014/main" xmlns="" id="{E809737B-7683-4415-99E3-0D49E3C99403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858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r>
              <a:rPr lang="pt-BR" dirty="0" smtClean="0"/>
              <a:t>CSS significa </a:t>
            </a:r>
            <a:r>
              <a:rPr lang="pt-BR" b="1" dirty="0" err="1" smtClean="0"/>
              <a:t>Cascading</a:t>
            </a:r>
            <a:r>
              <a:rPr lang="pt-BR" b="1" dirty="0" smtClean="0"/>
              <a:t> Style </a:t>
            </a:r>
            <a:r>
              <a:rPr lang="pt-BR" b="1" dirty="0" err="1" smtClean="0"/>
              <a:t>Sheets</a:t>
            </a:r>
            <a:r>
              <a:rPr lang="pt-BR" dirty="0" smtClean="0"/>
              <a:t>, ou </a:t>
            </a:r>
            <a:r>
              <a:rPr lang="pt-BR" b="1" dirty="0" smtClean="0"/>
              <a:t>Folhas de Estilo em Cascata</a:t>
            </a:r>
            <a:r>
              <a:rPr lang="pt-BR" dirty="0" smtClean="0"/>
              <a:t>.</a:t>
            </a:r>
          </a:p>
          <a:p>
            <a:r>
              <a:rPr lang="pt-BR" dirty="0" smtClean="0"/>
              <a:t>O HTML identifica os elementos do documento; o CSS seleciona esses </a:t>
            </a:r>
          </a:p>
          <a:p>
            <a:r>
              <a:rPr lang="pt-BR" dirty="0" smtClean="0"/>
              <a:t>elementos e aplica regras de apresentação.</a:t>
            </a:r>
            <a:endParaRPr lang="pt-BR" dirty="0"/>
          </a:p>
        </p:txBody>
      </p:sp>
      <p:sp>
        <p:nvSpPr>
          <p:cNvPr id="4" name="code">
            <a:extLst>
              <a:ext uri="{FF2B5EF4-FFF2-40B4-BE49-F238E27FC236}">
                <a16:creationId xmlns:a16="http://schemas.microsoft.com/office/drawing/2014/main" xmlns="" id="{1D11F5D3-461A-4D83-926E-7477804F2490}"/>
              </a:ext>
            </a:extLst>
          </p:cNvPr>
          <p:cNvSpPr>
            <a:spLocks noGrp="1"/>
          </p:cNvSpPr>
          <p:nvPr/>
        </p:nvSpPr>
        <p:spPr>
          <a:xfrm>
            <a:off x="666712" y="3286124"/>
            <a:ext cx="69532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55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255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255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255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255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255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255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255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255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255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>
              <a:defRPr sz="255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55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rPr>
              <a:t>button {</a:t>
            </a:r>
          </a:p>
          <a:p>
            <a:pPr>
              <a:defRPr sz="255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55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rPr>
              <a:t>  background: #0e7490;</a:t>
            </a:r>
          </a:p>
          <a:p>
            <a:pPr>
              <a:defRPr sz="255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55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rPr>
              <a:t>  color: white;</a:t>
            </a:r>
          </a:p>
          <a:p>
            <a:pPr>
              <a:defRPr sz="255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55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6" name="link-label">
            <a:extLst>
              <a:ext uri="{FF2B5EF4-FFF2-40B4-BE49-F238E27FC236}">
                <a16:creationId xmlns:a16="http://schemas.microsoft.com/office/drawing/2014/main" xmlns="" id="{D26EA638-F6A3-452B-A3D2-2927956DFA20}"/>
              </a:ext>
            </a:extLst>
          </p:cNvPr>
          <p:cNvSpPr>
            <a:spLocks noGrp="1"/>
          </p:cNvSpPr>
          <p:nvPr/>
        </p:nvSpPr>
        <p:spPr>
          <a:xfrm>
            <a:off x="609600" y="5572125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No &lt;head&gt; do HTML</a:t>
            </a:r>
          </a:p>
        </p:txBody>
      </p:sp>
      <p:sp>
        <p:nvSpPr>
          <p:cNvPr id="7" name="code">
            <a:extLst>
              <a:ext uri="{FF2B5EF4-FFF2-40B4-BE49-F238E27FC236}">
                <a16:creationId xmlns:a16="http://schemas.microsoft.com/office/drawing/2014/main" xmlns="" id="{41EF6802-6A71-40E9-A204-ACA8886C642F}"/>
              </a:ext>
            </a:extLst>
          </p:cNvPr>
          <p:cNvSpPr>
            <a:spLocks noGrp="1"/>
          </p:cNvSpPr>
          <p:nvPr/>
        </p:nvSpPr>
        <p:spPr>
          <a:xfrm>
            <a:off x="3905250" y="5562600"/>
            <a:ext cx="7715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80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80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80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80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80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80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80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80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80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80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>
              <a:defRPr sz="180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rPr>
              <a:t>&lt;link rel="stylesheet" href</a:t>
            </a:r>
            <a:r>
              <a:rPr sz="1800" b="0" smtClean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rPr>
              <a:t>="</a:t>
            </a:r>
            <a:r>
              <a:rPr lang="pt-BR" sz="1800" b="0" dirty="0" smtClean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rPr>
              <a:t>estilo</a:t>
            </a:r>
            <a:r>
              <a:rPr sz="1800" b="0" smtClean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rPr>
              <a:t>.css</a:t>
            </a:r>
            <a:r>
              <a:rPr sz="180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rPr>
              <a:t>"&gt;</a:t>
            </a:r>
          </a:p>
        </p:txBody>
      </p:sp>
      <p:pic>
        <p:nvPicPr>
          <p:cNvPr id="9" name="Imagem 8" descr="Logo CSS3 em escudo azul-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803456" y="4310089"/>
            <a:ext cx="2388544" cy="254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54842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ing">
            <a:extLst>
              <a:ext uri="{FF2B5EF4-FFF2-40B4-BE49-F238E27FC236}">
                <a16:creationId xmlns:a16="http://schemas.microsoft.com/office/drawing/2014/main" xmlns="" id="{CF77DDA4-7366-406E-9972-2A729A60C6B8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60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rPr>
              <a:t>CSS: </a:t>
            </a:r>
            <a:r>
              <a:rPr lang="pt-BR" sz="3600" dirty="0" smtClean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rPr>
              <a:t>A</a:t>
            </a:r>
            <a:r>
              <a:rPr sz="3600" smtClean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rPr>
              <a:t>presentação </a:t>
            </a:r>
            <a:r>
              <a:rPr sz="360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rPr>
              <a:t>da página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xmlns="" id="{74CEFADF-FECB-40EA-87D8-0B1B66163965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3836" y="1285860"/>
            <a:ext cx="7643866" cy="5190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754842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heading">
            <a:extLst>
              <a:ext uri="{FF2B5EF4-FFF2-40B4-BE49-F238E27FC236}">
                <a16:creationId xmlns:a16="http://schemas.microsoft.com/office/drawing/2014/main" xmlns="" id="{FA7B6F1D-9293-4D6D-959F-1DA43A05D3AD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3600">
                <a:solidFill>
                  <a:srgbClr val="FFE08A"/>
                </a:solidFill>
              </a:rPr>
              <a:t>JavaScript: </a:t>
            </a:r>
            <a:r>
              <a:rPr lang="pt-BR" sz="3600" dirty="0" smtClean="0">
                <a:solidFill>
                  <a:srgbClr val="FFE08A"/>
                </a:solidFill>
              </a:rPr>
              <a:t>C</a:t>
            </a:r>
            <a:r>
              <a:rPr sz="3600" smtClean="0">
                <a:solidFill>
                  <a:srgbClr val="FFE08A"/>
                </a:solidFill>
              </a:rPr>
              <a:t>omportamento </a:t>
            </a:r>
            <a:r>
              <a:rPr sz="3600">
                <a:solidFill>
                  <a:srgbClr val="FFE08A"/>
                </a:solidFill>
              </a:rPr>
              <a:t>programado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xmlns="" id="{038CD327-0909-44DE-9B08-E2E6AA6232FC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3" name="concept">
            <a:extLst>
              <a:ext uri="{FF2B5EF4-FFF2-40B4-BE49-F238E27FC236}">
                <a16:creationId xmlns:a16="http://schemas.microsoft.com/office/drawing/2014/main" xmlns="" id="{27DB647A-8D86-428F-81CE-FBE415631D69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953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lang="pt-BR" b="1" dirty="0" err="1" smtClean="0"/>
              <a:t>JavaScript</a:t>
            </a:r>
            <a:r>
              <a:rPr lang="pt-BR" b="1" dirty="0" smtClean="0"/>
              <a:t> é uma linguagem de programação utilizada para implementar </a:t>
            </a:r>
          </a:p>
          <a:p>
            <a: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lang="pt-BR" b="1" dirty="0" smtClean="0"/>
              <a:t>lógica, comportamentos e interações em páginas e aplicações</a:t>
            </a:r>
            <a:r>
              <a:rPr lang="pt-BR" dirty="0" smtClean="0"/>
              <a:t>.</a:t>
            </a:r>
            <a:r>
              <a:rPr sz="2550" b="0" smtClean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.</a:t>
            </a:r>
            <a:endParaRPr lang="pt-BR" sz="2550" b="0" dirty="0" smtClean="0">
              <a:solidFill>
                <a:srgbClr val="F7FAFF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endParaRPr lang="pt-BR" dirty="0" smtClean="0"/>
          </a:p>
          <a:p>
            <a: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lang="pt-BR" dirty="0" smtClean="0"/>
              <a:t>“O HTML organiza o conteúdo, o CSS define a apresentação e o </a:t>
            </a:r>
            <a:r>
              <a:rPr lang="pt-BR" dirty="0" err="1" smtClean="0"/>
              <a:t>JavaScript</a:t>
            </a:r>
            <a:endParaRPr lang="pt-BR" dirty="0" smtClean="0"/>
          </a:p>
          <a:p>
            <a: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lang="pt-BR" dirty="0" smtClean="0"/>
              <a:t> permite que a página responda às ações do usuário.”</a:t>
            </a:r>
            <a:endParaRPr sz="2550" b="0">
              <a:solidFill>
                <a:srgbClr val="F7FA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event">
            <a:extLst>
              <a:ext uri="{FF2B5EF4-FFF2-40B4-BE49-F238E27FC236}">
                <a16:creationId xmlns:a16="http://schemas.microsoft.com/office/drawing/2014/main" xmlns="" id="{C64E534F-E09E-44C8-A798-BAAD746C7763}"/>
              </a:ext>
            </a:extLst>
          </p:cNvPr>
          <p:cNvSpPr>
            <a:spLocks noGrp="1"/>
          </p:cNvSpPr>
          <p:nvPr/>
        </p:nvSpPr>
        <p:spPr>
          <a:xfrm>
            <a:off x="166646" y="4214818"/>
            <a:ext cx="285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rPr>
              <a:t>EVENTO</a:t>
            </a:r>
          </a:p>
        </p:txBody>
      </p:sp>
      <p:sp>
        <p:nvSpPr>
          <p:cNvPr id="5" name="event-body">
            <a:extLst>
              <a:ext uri="{FF2B5EF4-FFF2-40B4-BE49-F238E27FC236}">
                <a16:creationId xmlns:a16="http://schemas.microsoft.com/office/drawing/2014/main" xmlns="" id="{FE3C8607-56DD-48DB-AB88-507521B1AD5A}"/>
              </a:ext>
            </a:extLst>
          </p:cNvPr>
          <p:cNvSpPr>
            <a:spLocks noGrp="1"/>
          </p:cNvSpPr>
          <p:nvPr/>
        </p:nvSpPr>
        <p:spPr>
          <a:xfrm>
            <a:off x="666712" y="4572005"/>
            <a:ext cx="3333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Clique no botão</a:t>
            </a:r>
          </a:p>
        </p:txBody>
      </p:sp>
      <p:sp>
        <p:nvSpPr>
          <p:cNvPr id="6" name="action">
            <a:extLst>
              <a:ext uri="{FF2B5EF4-FFF2-40B4-BE49-F238E27FC236}">
                <a16:creationId xmlns:a16="http://schemas.microsoft.com/office/drawing/2014/main" xmlns="" id="{39D799E5-E23A-4F23-9ABB-32BB9D7DD433}"/>
              </a:ext>
            </a:extLst>
          </p:cNvPr>
          <p:cNvSpPr>
            <a:spLocks noGrp="1"/>
          </p:cNvSpPr>
          <p:nvPr/>
        </p:nvSpPr>
        <p:spPr>
          <a:xfrm>
            <a:off x="4167174" y="4214818"/>
            <a:ext cx="285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rPr>
              <a:t>AÇÃO</a:t>
            </a:r>
          </a:p>
        </p:txBody>
      </p:sp>
      <p:sp>
        <p:nvSpPr>
          <p:cNvPr id="7" name="action-body">
            <a:extLst>
              <a:ext uri="{FF2B5EF4-FFF2-40B4-BE49-F238E27FC236}">
                <a16:creationId xmlns:a16="http://schemas.microsoft.com/office/drawing/2014/main" xmlns="" id="{85542F52-A408-496B-9F8A-879846EA8E39}"/>
              </a:ext>
            </a:extLst>
          </p:cNvPr>
          <p:cNvSpPr>
            <a:spLocks noGrp="1"/>
          </p:cNvSpPr>
          <p:nvPr/>
        </p:nvSpPr>
        <p:spPr>
          <a:xfrm>
            <a:off x="4524364" y="4595823"/>
            <a:ext cx="3524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Executar a função</a:t>
            </a:r>
          </a:p>
        </p:txBody>
      </p:sp>
      <p:sp>
        <p:nvSpPr>
          <p:cNvPr id="8" name="result">
            <a:extLst>
              <a:ext uri="{FF2B5EF4-FFF2-40B4-BE49-F238E27FC236}">
                <a16:creationId xmlns:a16="http://schemas.microsoft.com/office/drawing/2014/main" xmlns="" id="{2980C8B9-9ACB-4CFD-97F7-F34DD8713C7B}"/>
              </a:ext>
            </a:extLst>
          </p:cNvPr>
          <p:cNvSpPr>
            <a:spLocks noGrp="1"/>
          </p:cNvSpPr>
          <p:nvPr/>
        </p:nvSpPr>
        <p:spPr>
          <a:xfrm>
            <a:off x="7715284" y="4214818"/>
            <a:ext cx="323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rPr>
              <a:t>RESULTADO</a:t>
            </a:r>
          </a:p>
        </p:txBody>
      </p:sp>
      <p:sp>
        <p:nvSpPr>
          <p:cNvPr id="9" name="result-body">
            <a:extLst>
              <a:ext uri="{FF2B5EF4-FFF2-40B4-BE49-F238E27FC236}">
                <a16:creationId xmlns:a16="http://schemas.microsoft.com/office/drawing/2014/main" xmlns="" id="{14DEFF85-EA7B-4F59-88C0-DD7754BB934E}"/>
              </a:ext>
            </a:extLst>
          </p:cNvPr>
          <p:cNvSpPr>
            <a:spLocks noGrp="1"/>
          </p:cNvSpPr>
          <p:nvPr/>
        </p:nvSpPr>
        <p:spPr>
          <a:xfrm>
            <a:off x="8410575" y="4595823"/>
            <a:ext cx="3333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Atualizar o texto</a:t>
            </a:r>
          </a:p>
        </p:txBody>
      </p:sp>
      <p:pic>
        <p:nvPicPr>
          <p:cNvPr id="12" name="Imagem 11" descr="Logo JavaScript amarelo com letras JS-3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905983" y="4714884"/>
            <a:ext cx="2286017" cy="2375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5313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ading">
            <a:extLst>
              <a:ext uri="{FF2B5EF4-FFF2-40B4-BE49-F238E27FC236}">
                <a16:creationId xmlns:a16="http://schemas.microsoft.com/office/drawing/2014/main" xmlns="" id="{FF58D89B-D69D-4955-9AEF-E78B2B177FB9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 smtClean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JavaScript</a:t>
            </a:r>
            <a:endParaRPr sz="3150" b="1">
              <a:solidFill>
                <a:srgbClr val="F7FA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xmlns="" id="{F9498CB5-9D80-46A3-9616-5BEDF146CA79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5" name="answer-label">
            <a:extLst>
              <a:ext uri="{FF2B5EF4-FFF2-40B4-BE49-F238E27FC236}">
                <a16:creationId xmlns:a16="http://schemas.microsoft.com/office/drawing/2014/main" xmlns="" id="{096E7C03-6DE2-4BB0-BB2A-9002DD6CBE5A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1047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Após o clique</a:t>
            </a:r>
          </a:p>
        </p:txBody>
      </p:sp>
      <p:sp>
        <p:nvSpPr>
          <p:cNvPr id="6" name="answer">
            <a:extLst>
              <a:ext uri="{FF2B5EF4-FFF2-40B4-BE49-F238E27FC236}">
                <a16:creationId xmlns:a16="http://schemas.microsoft.com/office/drawing/2014/main" xmlns="" id="{8235E4FC-4E10-4BF8-8494-B9038830B041}"/>
              </a:ext>
            </a:extLst>
          </p:cNvPr>
          <p:cNvSpPr>
            <a:spLocks noGrp="1"/>
          </p:cNvSpPr>
          <p:nvPr/>
        </p:nvSpPr>
        <p:spPr>
          <a:xfrm>
            <a:off x="609600" y="56864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9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9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HTML estrutura, CSS estiliza e JavaScript adiciona comportamento.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3836" y="1357298"/>
            <a:ext cx="11600296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13061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ing">
            <a:extLst>
              <a:ext uri="{FF2B5EF4-FFF2-40B4-BE49-F238E27FC236}">
                <a16:creationId xmlns:a16="http://schemas.microsoft.com/office/drawing/2014/main" xmlns="" id="{79966C29-F1A8-4666-B75F-C93D838D4B4F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Integração dos arquivos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xmlns="" id="{AD8D2CDA-6E09-468D-ABFD-954A847674FD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3" name="html-owner">
            <a:extLst>
              <a:ext uri="{FF2B5EF4-FFF2-40B4-BE49-F238E27FC236}">
                <a16:creationId xmlns:a16="http://schemas.microsoft.com/office/drawing/2014/main" xmlns="" id="{3ADAF179-F02E-41BB-8F23-37F69122B950}"/>
              </a:ext>
            </a:extLst>
          </p:cNvPr>
          <p:cNvSpPr>
            <a:spLocks noGrp="1"/>
          </p:cNvSpPr>
          <p:nvPr/>
        </p:nvSpPr>
        <p:spPr>
          <a:xfrm>
            <a:off x="595274" y="1071546"/>
            <a:ext cx="10477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pPr>
            <a:endParaRPr lang="pt-BR" sz="2400" b="1" dirty="0" smtClean="0">
              <a:solidFill>
                <a:srgbClr val="FFAC83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pPr>
            <a:endParaRPr lang="pt-BR" dirty="0" smtClean="0"/>
          </a:p>
          <a:p>
            <a: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 smtClean="0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index.html</a:t>
            </a:r>
            <a:endParaRPr sz="3600" b="1">
              <a:solidFill>
                <a:srgbClr val="FFAC83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code">
            <a:extLst>
              <a:ext uri="{FF2B5EF4-FFF2-40B4-BE49-F238E27FC236}">
                <a16:creationId xmlns:a16="http://schemas.microsoft.com/office/drawing/2014/main" xmlns="" id="{18DE6B3E-9C2E-4F70-9AE9-68D3922F7CF8}"/>
              </a:ext>
            </a:extLst>
          </p:cNvPr>
          <p:cNvSpPr>
            <a:spLocks noGrp="1"/>
          </p:cNvSpPr>
          <p:nvPr/>
        </p:nvSpPr>
        <p:spPr>
          <a:xfrm>
            <a:off x="523836" y="2571744"/>
            <a:ext cx="10953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250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2250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2250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2250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2250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2250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2250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2250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2250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2250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>
              <a:defRPr sz="2250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600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rPr>
              <a:t>&lt;link rel="stylesheet" href="style.css"&gt;</a:t>
            </a:r>
          </a:p>
          <a:p>
            <a:pPr>
              <a:defRPr sz="2250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600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rPr>
              <a:t>&lt;script src="script.js" defer&gt;&lt;/script&gt;</a:t>
            </a:r>
          </a:p>
        </p:txBody>
      </p:sp>
    </p:spTree>
    <p:extLst>
      <p:ext uri="{BB962C8B-B14F-4D97-AF65-F5344CB8AC3E}">
        <p14:creationId xmlns:p14="http://schemas.microsoft.com/office/powerpoint/2010/main" xmlns="" val="1117606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ing">
            <a:extLst>
              <a:ext uri="{FF2B5EF4-FFF2-40B4-BE49-F238E27FC236}">
                <a16:creationId xmlns:a16="http://schemas.microsoft.com/office/drawing/2014/main" xmlns="" id="{AAF28E54-4E81-482B-9AC8-C16C7F36BFF3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lang="pt-BR" sz="3150" b="1" dirty="0" smtClean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Referências</a:t>
            </a:r>
            <a:endParaRPr sz="3150" b="1">
              <a:solidFill>
                <a:srgbClr val="F7FA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xmlns="" id="{24276D62-64BD-434A-94AD-3D0FCC94ED20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452398" y="1214422"/>
            <a:ext cx="1078713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</a:rPr>
              <a:t>WHATWG.</a:t>
            </a:r>
            <a:r>
              <a:rPr lang="pt-BR" dirty="0" smtClean="0">
                <a:solidFill>
                  <a:schemeClr val="bg1"/>
                </a:solidFill>
              </a:rPr>
              <a:t> </a:t>
            </a:r>
            <a:r>
              <a:rPr lang="pt-BR" i="1" dirty="0" smtClean="0">
                <a:solidFill>
                  <a:schemeClr val="bg1"/>
                </a:solidFill>
              </a:rPr>
              <a:t>HTML Living Standard.</a:t>
            </a:r>
            <a:r>
              <a:rPr lang="pt-BR" dirty="0" smtClean="0">
                <a:solidFill>
                  <a:schemeClr val="bg1"/>
                </a:solidFill>
              </a:rPr>
              <a:t> Estrutura, elementos e semântica do HTML. Disponível em: </a:t>
            </a:r>
            <a:r>
              <a:rPr lang="pt-BR" dirty="0" smtClean="0">
                <a:solidFill>
                  <a:schemeClr val="bg1"/>
                </a:solidFill>
                <a:hlinkClick r:id="rId3"/>
              </a:rPr>
              <a:t>https://html.spec.whatwg.org/</a:t>
            </a:r>
            <a:r>
              <a:rPr lang="pt-BR" dirty="0" smtClean="0">
                <a:solidFill>
                  <a:schemeClr val="bg1"/>
                </a:solidFill>
              </a:rPr>
              <a:t>.</a:t>
            </a:r>
          </a:p>
          <a:p>
            <a:endParaRPr lang="pt-BR" dirty="0" smtClean="0">
              <a:solidFill>
                <a:schemeClr val="bg1"/>
              </a:solidFill>
            </a:endParaRPr>
          </a:p>
          <a:p>
            <a:r>
              <a:rPr lang="pt-BR" b="1" dirty="0" smtClean="0">
                <a:solidFill>
                  <a:schemeClr val="bg1"/>
                </a:solidFill>
              </a:rPr>
              <a:t>W3C.</a:t>
            </a:r>
            <a:r>
              <a:rPr lang="pt-BR" dirty="0" smtClean="0">
                <a:solidFill>
                  <a:schemeClr val="bg1"/>
                </a:solidFill>
              </a:rPr>
              <a:t> </a:t>
            </a:r>
            <a:r>
              <a:rPr lang="pt-BR" i="1" dirty="0" err="1" smtClean="0">
                <a:solidFill>
                  <a:schemeClr val="bg1"/>
                </a:solidFill>
              </a:rPr>
              <a:t>Cascading</a:t>
            </a:r>
            <a:r>
              <a:rPr lang="pt-BR" i="1" dirty="0" smtClean="0">
                <a:solidFill>
                  <a:schemeClr val="bg1"/>
                </a:solidFill>
              </a:rPr>
              <a:t> Style </a:t>
            </a:r>
            <a:r>
              <a:rPr lang="pt-BR" i="1" dirty="0" err="1" smtClean="0">
                <a:solidFill>
                  <a:schemeClr val="bg1"/>
                </a:solidFill>
              </a:rPr>
              <a:t>Sheets</a:t>
            </a:r>
            <a:r>
              <a:rPr lang="pt-BR" i="1" dirty="0" smtClean="0">
                <a:solidFill>
                  <a:schemeClr val="bg1"/>
                </a:solidFill>
              </a:rPr>
              <a:t> — CSS.</a:t>
            </a:r>
            <a:r>
              <a:rPr lang="pt-BR" dirty="0" smtClean="0">
                <a:solidFill>
                  <a:schemeClr val="bg1"/>
                </a:solidFill>
              </a:rPr>
              <a:t> Padrões e evolução das folhas de estilo. Disponível em: </a:t>
            </a:r>
            <a:r>
              <a:rPr lang="pt-BR" dirty="0" smtClean="0">
                <a:solidFill>
                  <a:schemeClr val="bg1"/>
                </a:solidFill>
                <a:hlinkClick r:id="rId4"/>
              </a:rPr>
              <a:t>https://www.w3.org/Style/CSS/</a:t>
            </a:r>
            <a:r>
              <a:rPr lang="pt-BR" dirty="0" smtClean="0">
                <a:solidFill>
                  <a:schemeClr val="bg1"/>
                </a:solidFill>
              </a:rPr>
              <a:t>.</a:t>
            </a:r>
          </a:p>
          <a:p>
            <a:endParaRPr lang="pt-BR" dirty="0" smtClean="0">
              <a:solidFill>
                <a:schemeClr val="bg1"/>
              </a:solidFill>
            </a:endParaRPr>
          </a:p>
          <a:p>
            <a:r>
              <a:rPr lang="pt-BR" b="1" dirty="0" smtClean="0">
                <a:solidFill>
                  <a:schemeClr val="bg1"/>
                </a:solidFill>
              </a:rPr>
              <a:t>ECMA INTERNATIONAL.</a:t>
            </a:r>
            <a:r>
              <a:rPr lang="pt-BR" dirty="0" smtClean="0">
                <a:solidFill>
                  <a:schemeClr val="bg1"/>
                </a:solidFill>
              </a:rPr>
              <a:t> </a:t>
            </a:r>
            <a:r>
              <a:rPr lang="pt-BR" i="1" dirty="0" smtClean="0">
                <a:solidFill>
                  <a:schemeClr val="bg1"/>
                </a:solidFill>
              </a:rPr>
              <a:t>ECMA-262 — </a:t>
            </a:r>
            <a:r>
              <a:rPr lang="pt-BR" i="1" dirty="0" err="1" smtClean="0">
                <a:solidFill>
                  <a:schemeClr val="bg1"/>
                </a:solidFill>
              </a:rPr>
              <a:t>ECMAScript</a:t>
            </a:r>
            <a:r>
              <a:rPr lang="pt-BR" i="1" dirty="0" smtClean="0">
                <a:solidFill>
                  <a:schemeClr val="bg1"/>
                </a:solidFill>
              </a:rPr>
              <a:t> </a:t>
            </a:r>
            <a:r>
              <a:rPr lang="pt-BR" i="1" dirty="0" err="1" smtClean="0">
                <a:solidFill>
                  <a:schemeClr val="bg1"/>
                </a:solidFill>
              </a:rPr>
              <a:t>Language</a:t>
            </a:r>
            <a:r>
              <a:rPr lang="pt-BR" i="1" dirty="0" smtClean="0">
                <a:solidFill>
                  <a:schemeClr val="bg1"/>
                </a:solidFill>
              </a:rPr>
              <a:t> </a:t>
            </a:r>
            <a:r>
              <a:rPr lang="pt-BR" i="1" dirty="0" err="1" smtClean="0">
                <a:solidFill>
                  <a:schemeClr val="bg1"/>
                </a:solidFill>
              </a:rPr>
              <a:t>Specification</a:t>
            </a:r>
            <a:r>
              <a:rPr lang="pt-BR" i="1" dirty="0" smtClean="0">
                <a:solidFill>
                  <a:schemeClr val="bg1"/>
                </a:solidFill>
              </a:rPr>
              <a:t>.</a:t>
            </a:r>
            <a:r>
              <a:rPr lang="pt-BR" dirty="0" smtClean="0">
                <a:solidFill>
                  <a:schemeClr val="bg1"/>
                </a:solidFill>
              </a:rPr>
              <a:t> Padronização da linguagem </a:t>
            </a:r>
            <a:r>
              <a:rPr lang="pt-BR" dirty="0" err="1" smtClean="0">
                <a:solidFill>
                  <a:schemeClr val="bg1"/>
                </a:solidFill>
              </a:rPr>
              <a:t>JavaScript</a:t>
            </a:r>
            <a:r>
              <a:rPr lang="pt-BR" dirty="0" smtClean="0">
                <a:solidFill>
                  <a:schemeClr val="bg1"/>
                </a:solidFill>
              </a:rPr>
              <a:t>. Disponível em: </a:t>
            </a:r>
            <a:r>
              <a:rPr lang="pt-BR" dirty="0" smtClean="0">
                <a:solidFill>
                  <a:schemeClr val="bg1"/>
                </a:solidFill>
                <a:hlinkClick r:id="rId5"/>
              </a:rPr>
              <a:t>https://ecma-international.org/publications-and-standards/standards/ecma-262/</a:t>
            </a:r>
            <a:r>
              <a:rPr lang="pt-BR" dirty="0" smtClean="0">
                <a:solidFill>
                  <a:schemeClr val="bg1"/>
                </a:solidFill>
              </a:rPr>
              <a:t>.</a:t>
            </a:r>
          </a:p>
          <a:p>
            <a:endParaRPr lang="pt-BR" dirty="0" smtClean="0">
              <a:solidFill>
                <a:schemeClr val="bg1"/>
              </a:solidFill>
            </a:endParaRPr>
          </a:p>
          <a:p>
            <a:r>
              <a:rPr lang="pt-BR" b="1" dirty="0" smtClean="0">
                <a:solidFill>
                  <a:schemeClr val="bg1"/>
                </a:solidFill>
              </a:rPr>
              <a:t>MDN WEB DOCS.</a:t>
            </a:r>
            <a:r>
              <a:rPr lang="pt-BR" dirty="0" smtClean="0">
                <a:solidFill>
                  <a:schemeClr val="bg1"/>
                </a:solidFill>
              </a:rPr>
              <a:t> </a:t>
            </a:r>
            <a:r>
              <a:rPr lang="pt-BR" i="1" dirty="0" smtClean="0">
                <a:solidFill>
                  <a:schemeClr val="bg1"/>
                </a:solidFill>
              </a:rPr>
              <a:t>Aprendendo desenvolvimento web.</a:t>
            </a:r>
            <a:r>
              <a:rPr lang="pt-BR" dirty="0" smtClean="0">
                <a:solidFill>
                  <a:schemeClr val="bg1"/>
                </a:solidFill>
              </a:rPr>
              <a:t> Material de apoio sobre HTML, CSS, </a:t>
            </a:r>
            <a:r>
              <a:rPr lang="pt-BR" dirty="0" err="1" smtClean="0">
                <a:solidFill>
                  <a:schemeClr val="bg1"/>
                </a:solidFill>
              </a:rPr>
              <a:t>JavaScript</a:t>
            </a:r>
            <a:r>
              <a:rPr lang="pt-BR" dirty="0" smtClean="0">
                <a:solidFill>
                  <a:schemeClr val="bg1"/>
                </a:solidFill>
              </a:rPr>
              <a:t>, eventos e manipulação do DOM. Disponível em: </a:t>
            </a:r>
            <a:r>
              <a:rPr lang="pt-BR" dirty="0" smtClean="0">
                <a:solidFill>
                  <a:schemeClr val="bg1"/>
                </a:solidFill>
                <a:hlinkClick r:id="rId6"/>
              </a:rPr>
              <a:t>https://developer.mozilla.org/pt-BR/docs/Learn_web_development</a:t>
            </a:r>
            <a:r>
              <a:rPr lang="pt-BR" dirty="0" smtClean="0">
                <a:solidFill>
                  <a:schemeClr val="bg1"/>
                </a:solidFill>
              </a:rPr>
              <a:t>.</a:t>
            </a:r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08442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ing">
            <a:extLst>
              <a:ext uri="{FF2B5EF4-FFF2-40B4-BE49-F238E27FC236}">
                <a16:creationId xmlns:a16="http://schemas.microsoft.com/office/drawing/2014/main" xmlns="" id="{AAF28E54-4E81-482B-9AC8-C16C7F36BFF3}"/>
              </a:ext>
            </a:extLst>
          </p:cNvPr>
          <p:cNvSpPr>
            <a:spLocks noGrp="1"/>
          </p:cNvSpPr>
          <p:nvPr/>
        </p:nvSpPr>
        <p:spPr>
          <a:xfrm>
            <a:off x="809588" y="2143116"/>
            <a:ext cx="9915556" cy="6429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lang="pt-BR" sz="4400" dirty="0" smtClean="0">
                <a:solidFill>
                  <a:schemeClr val="bg1"/>
                </a:solidFill>
              </a:rPr>
              <a:t>https://github.com/etecprofgiulianie-lab</a:t>
            </a:r>
            <a:r>
              <a:rPr lang="pt-BR" sz="4400" dirty="0" smtClean="0">
                <a:solidFill>
                  <a:schemeClr val="bg1"/>
                </a:solidFill>
              </a:rPr>
              <a:t>/</a:t>
            </a:r>
          </a:p>
          <a:p>
            <a:pPr algn="ctr"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lang="pt-BR" sz="4400" dirty="0" err="1" smtClean="0">
                <a:solidFill>
                  <a:schemeClr val="bg1"/>
                </a:solidFill>
              </a:rPr>
              <a:t>aula_teste_exemplos</a:t>
            </a:r>
            <a:r>
              <a:rPr lang="pt-BR" sz="4400" dirty="0" smtClean="0">
                <a:solidFill>
                  <a:schemeClr val="bg1"/>
                </a:solidFill>
              </a:rPr>
              <a:t>.</a:t>
            </a:r>
            <a:r>
              <a:rPr lang="pt-BR" sz="4400" dirty="0" err="1" smtClean="0">
                <a:solidFill>
                  <a:schemeClr val="bg1"/>
                </a:solidFill>
              </a:rPr>
              <a:t>git</a:t>
            </a:r>
            <a:endParaRPr lang="pt-BR" sz="4400" dirty="0" smtClean="0">
              <a:solidFill>
                <a:schemeClr val="bg1"/>
              </a:solidFill>
            </a:endParaRPr>
          </a:p>
          <a:p>
            <a: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endParaRPr sz="4000" b="1">
              <a:solidFill>
                <a:srgbClr val="F7FA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xmlns="" id="{24276D62-64BD-434A-94AD-3D0FCC94ED20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pic>
        <p:nvPicPr>
          <p:cNvPr id="5" name="Imagem 4" descr="Git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736" y="4000504"/>
            <a:ext cx="3308235" cy="1387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08442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1723</Words>
  <Application>Walnut Exporter</Application>
  <DocSecurity>0</DocSecurity>
  <PresentationFormat>Personalizar</PresentationFormat>
  <Paragraphs>139</Paragraphs>
  <Slides>12</Slides>
  <Notes>12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3" baseType="lpstr">
      <vt:lpstr>ChatGPT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Giulianie Aparecida Machado</cp:lastModifiedBy>
  <cp:revision>6</cp:revision>
  <dcterms:created xsi:type="dcterms:W3CDTF">2026-10-20T19:26:41Z</dcterms:created>
  <dcterms:modified xsi:type="dcterms:W3CDTF">2026-10-22T21:56:09Z</dcterms:modified>
</cp:coreProperties>
</file>